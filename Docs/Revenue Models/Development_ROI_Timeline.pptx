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i83ckMSwMhPx3yp/pXI8BFfZrs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6629400" y="1261872"/>
            <a:ext cx="2315008" cy="914400"/>
          </a:xfrm>
          <a:prstGeom prst="homePlate">
            <a:avLst>
              <a:gd fmla="val 5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567585" y="1249575"/>
            <a:ext cx="2200237" cy="914400"/>
          </a:xfrm>
          <a:prstGeom prst="homePlate">
            <a:avLst>
              <a:gd fmla="val 50000" name="adj"/>
            </a:avLst>
          </a:prstGeom>
          <a:solidFill>
            <a:srgbClr val="5481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2508923" y="1249575"/>
            <a:ext cx="2200237" cy="914400"/>
          </a:xfrm>
          <a:prstGeom prst="homePlate">
            <a:avLst>
              <a:gd fmla="val 50000" name="adj"/>
            </a:avLst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469810" y="1253989"/>
            <a:ext cx="2200237" cy="914400"/>
          </a:xfrm>
          <a:prstGeom prst="homePlate">
            <a:avLst>
              <a:gd fmla="val 50000" name="adj"/>
            </a:avLst>
          </a:prstGeom>
          <a:solidFill>
            <a:srgbClr val="7B2C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180043" y="163251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Development &amp; ROI Timeline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24-Month Plan to Launch &amp; Scale (estimate)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194560"/>
            <a:ext cx="2009474" cy="91440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3" y="2429469"/>
            <a:ext cx="191803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Shareable MVP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Beta Tests (Friends &amp; Family)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514600" y="2202049"/>
            <a:ext cx="2009474" cy="914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490637" y="215688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Months 4 - 6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624327" y="2331406"/>
            <a:ext cx="1737360" cy="790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-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Steam Early Access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-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Feedback Analysis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-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Full, Live Build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0" y="2194560"/>
            <a:ext cx="200821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615985" y="1244213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III</a:t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504522" y="1609973"/>
            <a:ext cx="2176271" cy="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 Launch Content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543623" y="2151996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Months 7 - 12</a:t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4663440" y="2421583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-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Post-Launch Features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-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Monetization Analysis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-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 Paying Users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629400" y="2194560"/>
            <a:ext cx="2057400" cy="9144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602914" y="1256907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 u="sng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IV</a:t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566968" y="1679815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Growth &amp; Scale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616788" y="2155149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Months 13 - </a:t>
            </a:r>
            <a:r>
              <a:rPr lang="en-US" sz="10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0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6720840" y="251460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Expand Features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Increase User Base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246419" y="3142856"/>
            <a:ext cx="2260773" cy="588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CFFC"/>
              </a:buClr>
              <a:buSzPts val="1000"/>
              <a:buFont typeface="Calibri"/>
              <a:buNone/>
            </a:pPr>
            <a:r>
              <a:rPr i="1" lang="en-US" sz="1000" u="sng">
                <a:solidFill>
                  <a:srgbClr val="E0CFFC"/>
                </a:solidFill>
                <a:latin typeface="Calibri"/>
                <a:ea typeface="Calibri"/>
                <a:cs typeface="Calibri"/>
                <a:sym typeface="Calibri"/>
              </a:rPr>
              <a:t>Goals</a:t>
            </a:r>
            <a:endParaRPr i="1" sz="1200">
              <a:solidFill>
                <a:srgbClr val="E0CF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ctr">
              <a:spcBef>
                <a:spcPts val="0"/>
              </a:spcBef>
              <a:spcAft>
                <a:spcPts val="0"/>
              </a:spcAft>
              <a:buClr>
                <a:srgbClr val="E0CFFC"/>
              </a:buClr>
              <a:buSzPts val="1200"/>
              <a:buFont typeface="Arial"/>
              <a:buChar char="•"/>
            </a:pPr>
            <a:r>
              <a:rPr i="1" lang="en-US" sz="1200">
                <a:solidFill>
                  <a:srgbClr val="E0CFFC"/>
                </a:solidFill>
                <a:latin typeface="Calibri"/>
                <a:ea typeface="Calibri"/>
                <a:cs typeface="Calibri"/>
                <a:sym typeface="Calibri"/>
              </a:rPr>
              <a:t>Analysis &amp; Iteration</a:t>
            </a:r>
            <a:endParaRPr/>
          </a:p>
          <a:p>
            <a:pPr indent="-171450" lvl="0" marL="171450" marR="0" rtl="0" algn="ctr">
              <a:spcBef>
                <a:spcPts val="0"/>
              </a:spcBef>
              <a:spcAft>
                <a:spcPts val="0"/>
              </a:spcAft>
              <a:buClr>
                <a:srgbClr val="E0CFFC"/>
              </a:buClr>
              <a:buSzPts val="1200"/>
              <a:buFont typeface="Arial"/>
              <a:buChar char="•"/>
            </a:pPr>
            <a:r>
              <a:rPr i="1" lang="en-US" sz="1200">
                <a:solidFill>
                  <a:srgbClr val="E0CFFC"/>
                </a:solidFill>
                <a:latin typeface="Calibri"/>
                <a:ea typeface="Calibri"/>
                <a:cs typeface="Calibri"/>
                <a:sym typeface="Calibri"/>
              </a:rPr>
              <a:t>Steam-ready MVP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2356947" y="3064030"/>
            <a:ext cx="2260773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000"/>
              <a:buFont typeface="Calibri"/>
              <a:buNone/>
            </a:pPr>
            <a:r>
              <a:rPr i="1" lang="en-US" sz="1000" u="sng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Goals</a:t>
            </a:r>
            <a:endParaRPr/>
          </a:p>
          <a:p>
            <a:pPr indent="-171450" lvl="0" marL="17145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200"/>
              <a:buFont typeface="Arial"/>
              <a:buChar char="•"/>
            </a:pPr>
            <a:r>
              <a:rPr i="1" lang="en-US" sz="12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Wider Analysis &amp; Iteration</a:t>
            </a:r>
            <a:endParaRPr/>
          </a:p>
          <a:p>
            <a:pPr indent="-171450" lvl="0" marL="17145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200"/>
              <a:buFont typeface="Arial"/>
              <a:buChar char="•"/>
            </a:pPr>
            <a:r>
              <a:rPr i="1" lang="en-US" sz="12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Identify Core Audience</a:t>
            </a:r>
            <a:endParaRPr/>
          </a:p>
          <a:p>
            <a:pPr indent="-171450" lvl="0" marL="17145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200"/>
              <a:buFont typeface="Arial"/>
              <a:buChar char="•"/>
            </a:pPr>
            <a:r>
              <a:rPr i="1" lang="en-US" sz="12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Wide Steam Launch</a:t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4572000" y="32461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457200" y="4024146"/>
            <a:ext cx="8167168" cy="9443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" name="Google Shape;37;p1"/>
          <p:cNvGrpSpPr/>
          <p:nvPr/>
        </p:nvGrpSpPr>
        <p:grpSpPr>
          <a:xfrm>
            <a:off x="121395" y="4008856"/>
            <a:ext cx="640080" cy="429768"/>
            <a:chOff x="320040" y="3712464"/>
            <a:chExt cx="640080" cy="429768"/>
          </a:xfrm>
        </p:grpSpPr>
        <p:sp>
          <p:nvSpPr>
            <p:cNvPr id="38" name="Google Shape;38;p1"/>
            <p:cNvSpPr/>
            <p:nvPr/>
          </p:nvSpPr>
          <p:spPr>
            <a:xfrm>
              <a:off x="640080" y="3712464"/>
              <a:ext cx="18288" cy="1463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320040" y="3913632"/>
              <a:ext cx="6400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 Months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" name="Google Shape;40;p1"/>
          <p:cNvGrpSpPr/>
          <p:nvPr/>
        </p:nvGrpSpPr>
        <p:grpSpPr>
          <a:xfrm>
            <a:off x="4217276" y="3995140"/>
            <a:ext cx="640080" cy="429768"/>
            <a:chOff x="2697480" y="3712464"/>
            <a:chExt cx="640080" cy="429768"/>
          </a:xfrm>
        </p:grpSpPr>
        <p:sp>
          <p:nvSpPr>
            <p:cNvPr id="41" name="Google Shape;41;p1"/>
            <p:cNvSpPr/>
            <p:nvPr/>
          </p:nvSpPr>
          <p:spPr>
            <a:xfrm>
              <a:off x="3017520" y="3712464"/>
              <a:ext cx="18288" cy="1463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697480" y="3913632"/>
              <a:ext cx="6400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 Months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;p1"/>
          <p:cNvGrpSpPr/>
          <p:nvPr/>
        </p:nvGrpSpPr>
        <p:grpSpPr>
          <a:xfrm>
            <a:off x="6282874" y="3995140"/>
            <a:ext cx="640080" cy="429768"/>
            <a:chOff x="5212080" y="3712464"/>
            <a:chExt cx="640080" cy="429768"/>
          </a:xfrm>
        </p:grpSpPr>
        <p:sp>
          <p:nvSpPr>
            <p:cNvPr id="44" name="Google Shape;44;p1"/>
            <p:cNvSpPr/>
            <p:nvPr/>
          </p:nvSpPr>
          <p:spPr>
            <a:xfrm>
              <a:off x="5532120" y="3712464"/>
              <a:ext cx="18288" cy="1463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5212080" y="3913632"/>
              <a:ext cx="6400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12 Months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" name="Google Shape;46;p1"/>
          <p:cNvGrpSpPr/>
          <p:nvPr/>
        </p:nvGrpSpPr>
        <p:grpSpPr>
          <a:xfrm>
            <a:off x="8304328" y="3995298"/>
            <a:ext cx="640080" cy="429768"/>
            <a:chOff x="7726680" y="3712464"/>
            <a:chExt cx="640080" cy="429768"/>
          </a:xfrm>
        </p:grpSpPr>
        <p:sp>
          <p:nvSpPr>
            <p:cNvPr id="47" name="Google Shape;47;p1"/>
            <p:cNvSpPr/>
            <p:nvPr/>
          </p:nvSpPr>
          <p:spPr>
            <a:xfrm>
              <a:off x="8046720" y="3712464"/>
              <a:ext cx="18288" cy="1463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7726680" y="3913632"/>
              <a:ext cx="6400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24 Months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" name="Google Shape;49;p1"/>
          <p:cNvGrpSpPr/>
          <p:nvPr/>
        </p:nvGrpSpPr>
        <p:grpSpPr>
          <a:xfrm>
            <a:off x="868679" y="4228944"/>
            <a:ext cx="914400" cy="658368"/>
            <a:chOff x="365761" y="4297680"/>
            <a:chExt cx="914400" cy="658368"/>
          </a:xfrm>
        </p:grpSpPr>
        <p:sp>
          <p:nvSpPr>
            <p:cNvPr id="50" name="Google Shape;50;p1"/>
            <p:cNvSpPr/>
            <p:nvPr/>
          </p:nvSpPr>
          <p:spPr>
            <a:xfrm>
              <a:off x="658368" y="4297680"/>
              <a:ext cx="329184" cy="32918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1"/>
            <p:cNvGrpSpPr/>
            <p:nvPr/>
          </p:nvGrpSpPr>
          <p:grpSpPr>
            <a:xfrm>
              <a:off x="365761" y="4297680"/>
              <a:ext cx="914400" cy="658368"/>
              <a:chOff x="365760" y="4297680"/>
              <a:chExt cx="914400" cy="658368"/>
            </a:xfrm>
          </p:grpSpPr>
          <p:sp>
            <p:nvSpPr>
              <p:cNvPr id="52" name="Google Shape;52;p1"/>
              <p:cNvSpPr/>
              <p:nvPr/>
            </p:nvSpPr>
            <p:spPr>
              <a:xfrm>
                <a:off x="658368" y="4297680"/>
                <a:ext cx="329184" cy="329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lang="en-US" sz="20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✓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365760" y="4681728"/>
                <a:ext cx="9144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E0CFFC"/>
                  </a:buClr>
                  <a:buSzPts val="1100"/>
                  <a:buFont typeface="Calibri"/>
                  <a:buNone/>
                </a:pPr>
                <a:r>
                  <a:rPr b="1" lang="en-US" sz="1100">
                    <a:solidFill>
                      <a:srgbClr val="E0CFF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MVP Ready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" name="Google Shape;54;p1"/>
          <p:cNvGrpSpPr/>
          <p:nvPr/>
        </p:nvGrpSpPr>
        <p:grpSpPr>
          <a:xfrm>
            <a:off x="3024932" y="4204980"/>
            <a:ext cx="914400" cy="661521"/>
            <a:chOff x="2975269" y="4198359"/>
            <a:chExt cx="914400" cy="661521"/>
          </a:xfrm>
        </p:grpSpPr>
        <p:sp>
          <p:nvSpPr>
            <p:cNvPr id="55" name="Google Shape;55;p1"/>
            <p:cNvSpPr/>
            <p:nvPr/>
          </p:nvSpPr>
          <p:spPr>
            <a:xfrm>
              <a:off x="3264723" y="4198359"/>
              <a:ext cx="329184" cy="32918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" name="Google Shape;56;p1"/>
            <p:cNvGrpSpPr/>
            <p:nvPr/>
          </p:nvGrpSpPr>
          <p:grpSpPr>
            <a:xfrm>
              <a:off x="2975269" y="4209631"/>
              <a:ext cx="914400" cy="650249"/>
              <a:chOff x="2377440" y="4305799"/>
              <a:chExt cx="914400" cy="650249"/>
            </a:xfrm>
          </p:grpSpPr>
          <p:sp>
            <p:nvSpPr>
              <p:cNvPr id="57" name="Google Shape;57;p1"/>
              <p:cNvSpPr/>
              <p:nvPr/>
            </p:nvSpPr>
            <p:spPr>
              <a:xfrm>
                <a:off x="2666894" y="4305799"/>
                <a:ext cx="329184" cy="329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lang="en-US" sz="20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📊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2377440" y="4681728"/>
                <a:ext cx="9144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BBDEFB"/>
                  </a:buClr>
                  <a:buSzPts val="1100"/>
                  <a:buFont typeface="Calibri"/>
                  <a:buNone/>
                </a:pPr>
                <a:r>
                  <a:rPr b="1" lang="en-US" sz="1100">
                    <a:solidFill>
                      <a:srgbClr val="BBDEF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Engagement &amp; Insights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" name="Google Shape;59;p1"/>
          <p:cNvGrpSpPr/>
          <p:nvPr/>
        </p:nvGrpSpPr>
        <p:grpSpPr>
          <a:xfrm>
            <a:off x="7329704" y="4201116"/>
            <a:ext cx="914400" cy="649224"/>
            <a:chOff x="7311259" y="4315968"/>
            <a:chExt cx="914400" cy="649224"/>
          </a:xfrm>
        </p:grpSpPr>
        <p:sp>
          <p:nvSpPr>
            <p:cNvPr id="60" name="Google Shape;60;p1"/>
            <p:cNvSpPr/>
            <p:nvPr/>
          </p:nvSpPr>
          <p:spPr>
            <a:xfrm>
              <a:off x="7603867" y="4315968"/>
              <a:ext cx="329184" cy="32918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" name="Google Shape;61;p1"/>
            <p:cNvGrpSpPr/>
            <p:nvPr/>
          </p:nvGrpSpPr>
          <p:grpSpPr>
            <a:xfrm>
              <a:off x="7311259" y="4316283"/>
              <a:ext cx="914400" cy="648909"/>
              <a:chOff x="6858000" y="4307139"/>
              <a:chExt cx="914400" cy="648909"/>
            </a:xfrm>
          </p:grpSpPr>
          <p:sp>
            <p:nvSpPr>
              <p:cNvPr id="62" name="Google Shape;62;p1"/>
              <p:cNvSpPr/>
              <p:nvPr/>
            </p:nvSpPr>
            <p:spPr>
              <a:xfrm>
                <a:off x="7147455" y="4307139"/>
                <a:ext cx="329184" cy="329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lang="en-US" sz="20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📈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6858000" y="4681728"/>
                <a:ext cx="9144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BBDEFB"/>
                  </a:buClr>
                  <a:buSzPts val="1100"/>
                  <a:buFont typeface="Calibri"/>
                  <a:buNone/>
                </a:pPr>
                <a:r>
                  <a:rPr b="1" lang="en-US" sz="1100">
                    <a:solidFill>
                      <a:srgbClr val="BBDEF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Scale &amp; Growth</a:t>
                </a:r>
                <a:endParaRPr/>
              </a:p>
            </p:txBody>
          </p:sp>
        </p:grpSp>
      </p:grpSp>
      <p:sp>
        <p:nvSpPr>
          <p:cNvPr id="64" name="Google Shape;64;p1"/>
          <p:cNvSpPr/>
          <p:nvPr/>
        </p:nvSpPr>
        <p:spPr>
          <a:xfrm>
            <a:off x="365759" y="1276849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 u="sng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I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413054" y="1575684"/>
            <a:ext cx="2304919" cy="534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MVP Development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409274" y="2144268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CF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0CFFC"/>
                </a:solidFill>
                <a:latin typeface="Calibri"/>
                <a:ea typeface="Calibri"/>
                <a:cs typeface="Calibri"/>
                <a:sym typeface="Calibri"/>
              </a:rPr>
              <a:t>Months 0 - 3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" name="Google Shape;67;p1"/>
          <p:cNvGrpSpPr/>
          <p:nvPr/>
        </p:nvGrpSpPr>
        <p:grpSpPr>
          <a:xfrm>
            <a:off x="2126690" y="4004679"/>
            <a:ext cx="640080" cy="429768"/>
            <a:chOff x="5212080" y="3712464"/>
            <a:chExt cx="640080" cy="429768"/>
          </a:xfrm>
        </p:grpSpPr>
        <p:sp>
          <p:nvSpPr>
            <p:cNvPr id="68" name="Google Shape;68;p1"/>
            <p:cNvSpPr/>
            <p:nvPr/>
          </p:nvSpPr>
          <p:spPr>
            <a:xfrm>
              <a:off x="5532120" y="3712464"/>
              <a:ext cx="18288" cy="1463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5212080" y="3913632"/>
              <a:ext cx="6400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 Months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" name="Google Shape;70;p1"/>
          <p:cNvGrpSpPr/>
          <p:nvPr/>
        </p:nvGrpSpPr>
        <p:grpSpPr>
          <a:xfrm>
            <a:off x="5105193" y="4186377"/>
            <a:ext cx="914400" cy="658368"/>
            <a:chOff x="5074920" y="4270248"/>
            <a:chExt cx="914400" cy="658368"/>
          </a:xfrm>
        </p:grpSpPr>
        <p:grpSp>
          <p:nvGrpSpPr>
            <p:cNvPr id="71" name="Google Shape;71;p1"/>
            <p:cNvGrpSpPr/>
            <p:nvPr/>
          </p:nvGrpSpPr>
          <p:grpSpPr>
            <a:xfrm>
              <a:off x="5074920" y="4270248"/>
              <a:ext cx="914400" cy="658368"/>
              <a:chOff x="4617720" y="4297680"/>
              <a:chExt cx="914400" cy="658368"/>
            </a:xfrm>
          </p:grpSpPr>
          <p:sp>
            <p:nvSpPr>
              <p:cNvPr id="72" name="Google Shape;72;p1"/>
              <p:cNvSpPr/>
              <p:nvPr/>
            </p:nvSpPr>
            <p:spPr>
              <a:xfrm>
                <a:off x="4910328" y="4297680"/>
                <a:ext cx="329184" cy="32918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4617720" y="4681728"/>
                <a:ext cx="9144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BBDEFB"/>
                  </a:buClr>
                  <a:buSzPts val="1100"/>
                  <a:buFont typeface="Calibri"/>
                  <a:buNone/>
                </a:pPr>
                <a:r>
                  <a:rPr b="1" lang="en-US" sz="1100">
                    <a:solidFill>
                      <a:srgbClr val="BBDEF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r>
                  <a:rPr b="1" lang="en-US" sz="1100">
                    <a:solidFill>
                      <a:srgbClr val="C8E6C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b="1" lang="en-US" sz="1100">
                    <a:solidFill>
                      <a:srgbClr val="BBDEF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Acquisition</a:t>
                </a:r>
                <a:endParaRPr/>
              </a:p>
            </p:txBody>
          </p:sp>
        </p:grpSp>
        <p:sp>
          <p:nvSpPr>
            <p:cNvPr id="74" name="Google Shape;74;p1"/>
            <p:cNvSpPr/>
            <p:nvPr/>
          </p:nvSpPr>
          <p:spPr>
            <a:xfrm>
              <a:off x="5367528" y="4270248"/>
              <a:ext cx="329184" cy="329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$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" name="Google Shape;75;p1"/>
          <p:cNvSpPr/>
          <p:nvPr/>
        </p:nvSpPr>
        <p:spPr>
          <a:xfrm>
            <a:off x="2469196" y="1264396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 u="sng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II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2484960" y="1431827"/>
            <a:ext cx="1920240" cy="847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Steam Launch</a:t>
            </a:r>
            <a:endParaRPr/>
          </a:p>
        </p:txBody>
      </p:sp>
      <p:sp>
        <p:nvSpPr>
          <p:cNvPr id="77" name="Google Shape;77;p1"/>
          <p:cNvSpPr txBox="1"/>
          <p:nvPr/>
        </p:nvSpPr>
        <p:spPr>
          <a:xfrm>
            <a:off x="-37601" y="4866501"/>
            <a:ext cx="129734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Logo/Branding</a:t>
            </a:r>
            <a:endParaRPr/>
          </a:p>
        </p:txBody>
      </p:sp>
      <p:sp>
        <p:nvSpPr>
          <p:cNvPr id="78" name="Google Shape;78;p1"/>
          <p:cNvSpPr/>
          <p:nvPr/>
        </p:nvSpPr>
        <p:spPr>
          <a:xfrm>
            <a:off x="4426009" y="3054414"/>
            <a:ext cx="2260773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000"/>
              <a:buFont typeface="Calibri"/>
              <a:buNone/>
            </a:pPr>
            <a:r>
              <a:rPr i="1" lang="en-US" sz="1000" u="sng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Goals</a:t>
            </a:r>
            <a:endParaRPr/>
          </a:p>
          <a:p>
            <a:pPr indent="-171450" lvl="0" marL="17145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200"/>
              <a:buFont typeface="Arial"/>
              <a:buChar char="•"/>
            </a:pPr>
            <a:r>
              <a:rPr i="1" lang="en-US" sz="12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Validate Monetization</a:t>
            </a:r>
            <a:endParaRPr/>
          </a:p>
          <a:p>
            <a:pPr indent="-171450" lvl="0" marL="17145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200"/>
              <a:buFont typeface="Arial"/>
              <a:buChar char="•"/>
            </a:pPr>
            <a:r>
              <a:rPr i="1" lang="en-US" sz="12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Wider User Engagement </a:t>
            </a:r>
            <a:endParaRPr/>
          </a:p>
          <a:p>
            <a:pPr indent="-171450" lvl="0" marL="17145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200"/>
              <a:buFont typeface="Arial"/>
              <a:buChar char="•"/>
            </a:pPr>
            <a:r>
              <a:rPr i="1" lang="en-US" sz="12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User Acquisition</a:t>
            </a:r>
            <a:endParaRPr/>
          </a:p>
        </p:txBody>
      </p:sp>
      <p:sp>
        <p:nvSpPr>
          <p:cNvPr id="79" name="Google Shape;79;p1"/>
          <p:cNvSpPr/>
          <p:nvPr/>
        </p:nvSpPr>
        <p:spPr>
          <a:xfrm>
            <a:off x="6495071" y="2953830"/>
            <a:ext cx="2260773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000"/>
              <a:buFont typeface="Calibri"/>
              <a:buNone/>
            </a:pPr>
            <a:r>
              <a:rPr i="1" lang="en-US" sz="1000" u="sng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Goals</a:t>
            </a:r>
            <a:endParaRPr/>
          </a:p>
          <a:p>
            <a:pPr indent="-171450" lvl="0" marL="17145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200"/>
              <a:buFont typeface="Arial"/>
              <a:buChar char="•"/>
            </a:pPr>
            <a:r>
              <a:rPr i="1" lang="en-US" sz="12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Drive Revenue &amp; Growth</a:t>
            </a:r>
            <a:endParaRPr/>
          </a:p>
          <a:p>
            <a:pPr indent="-171450" lvl="0" marL="17145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200"/>
              <a:buFont typeface="Arial"/>
              <a:buChar char="•"/>
            </a:pPr>
            <a:r>
              <a:rPr i="1" lang="en-US" sz="12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Profitability &amp; ROI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2026-02-03T16:46:11Z</dcterms:created>
  <dc:creator>Claude</dc:creator>
</cp:coreProperties>
</file>