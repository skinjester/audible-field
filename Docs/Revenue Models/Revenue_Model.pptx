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3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S1KPa2ejcY176j3OfREZMG3a3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9489DF-E139-4EB6-A96B-EA5A8A0CA492}">
  <a:tblStyle styleId="{909489DF-E139-4EB6-A96B-EA5A8A0CA49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customschemas.google.com/relationships/presentationmetadata" Target="metadata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https://d.docs.live.net/f73b3e02230ea300/Desktop/Greg's_Schedule.xlsx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https://d.docs.live.net/f73b3e02230ea300/Desktop/Greg's_Schedule.xlsx" TargetMode="External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https://d.docs.live.net/f73b3e02230ea300/Desktop/Greg's_Schedul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/>
              <a:t>Estimated</a:t>
            </a:r>
            <a:r>
              <a:rPr lang="en-US" b="1" u="sng" baseline="0"/>
              <a:t> Net Revenue (No DLC): 3 Scenarios</a:t>
            </a:r>
            <a:endParaRPr lang="en-US" b="1" u="sng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Sheet2!$C$11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Sheet2!$D$10:$G$10</c:f>
              <c:strCache>
                <c:ptCount val="4"/>
                <c:pt idx="0">
                  <c:v>Year 1 Net Revenue</c:v>
                </c:pt>
                <c:pt idx="1">
                  <c:v>Year 2 Net Revenue</c:v>
                </c:pt>
                <c:pt idx="2">
                  <c:v>Year 3 Net Revenue</c:v>
                </c:pt>
                <c:pt idx="3">
                  <c:v>3-Year Total Net Revenue</c:v>
                </c:pt>
              </c:strCache>
            </c:strRef>
          </c:cat>
          <c:val>
            <c:numRef>
              <c:f>Sheet2!$D$11:$G$11</c:f>
              <c:numCache>
                <c:formatCode>"$"#,##0_);[Red]\("$"#,##0\)</c:formatCode>
                <c:ptCount val="4"/>
                <c:pt idx="0">
                  <c:v>42000</c:v>
                </c:pt>
                <c:pt idx="1">
                  <c:v>21000</c:v>
                </c:pt>
                <c:pt idx="2">
                  <c:v>10500</c:v>
                </c:pt>
                <c:pt idx="3">
                  <c:v>73500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D4-4DFF-84B6-0BB7D495F2FC}"/>
            </c:ext>
          </c:extLst>
        </c:ser>
        <c:ser>
          <c:idx val="1"/>
          <c:order val="1"/>
          <c:tx>
            <c:strRef>
              <c:f>Sheet2!$C$12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Sheet2!$D$10:$G$10</c:f>
              <c:strCache>
                <c:ptCount val="4"/>
                <c:pt idx="0">
                  <c:v>Year 1 Net Revenue</c:v>
                </c:pt>
                <c:pt idx="1">
                  <c:v>Year 2 Net Revenue</c:v>
                </c:pt>
                <c:pt idx="2">
                  <c:v>Year 3 Net Revenue</c:v>
                </c:pt>
                <c:pt idx="3">
                  <c:v>3-Year Total Net Revenue</c:v>
                </c:pt>
              </c:strCache>
            </c:strRef>
          </c:cat>
          <c:val>
            <c:numRef>
              <c:f>Sheet2!$D$12:$G$12</c:f>
              <c:numCache>
                <c:formatCode>"$"#,##0_);[Red]\("$"#,##0\)</c:formatCode>
                <c:ptCount val="4"/>
                <c:pt idx="0">
                  <c:v>126000</c:v>
                </c:pt>
                <c:pt idx="1">
                  <c:v>73500</c:v>
                </c:pt>
                <c:pt idx="2">
                  <c:v>42000</c:v>
                </c:pt>
                <c:pt idx="3">
                  <c:v>241500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D4-4DFF-84B6-0BB7D495F2FC}"/>
            </c:ext>
          </c:extLst>
        </c:ser>
        <c:ser>
          <c:idx val="2"/>
          <c:order val="2"/>
          <c:tx>
            <c:strRef>
              <c:f>Sheet2!$C$13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Sheet2!$D$10:$G$10</c:f>
              <c:strCache>
                <c:ptCount val="4"/>
                <c:pt idx="0">
                  <c:v>Year 1 Net Revenue</c:v>
                </c:pt>
                <c:pt idx="1">
                  <c:v>Year 2 Net Revenue</c:v>
                </c:pt>
                <c:pt idx="2">
                  <c:v>Year 3 Net Revenue</c:v>
                </c:pt>
                <c:pt idx="3">
                  <c:v>3-Year Total Net Revenue</c:v>
                </c:pt>
              </c:strCache>
            </c:strRef>
          </c:cat>
          <c:val>
            <c:numRef>
              <c:f>Sheet2!$D$13:$G$13</c:f>
              <c:numCache>
                <c:formatCode>"$"#,##0_);[Red]\("$"#,##0\)</c:formatCode>
                <c:ptCount val="4"/>
                <c:pt idx="0">
                  <c:v>262500</c:v>
                </c:pt>
                <c:pt idx="1">
                  <c:v>126000</c:v>
                </c:pt>
                <c:pt idx="2">
                  <c:v>84000</c:v>
                </c:pt>
                <c:pt idx="3">
                  <c:v>472500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D4-4DFF-84B6-0BB7D495F2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32211904"/>
        <c:axId val="1132213344"/>
      </c:barChart>
      <c:catAx>
        <c:axId val="1132211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2213344"/>
        <c:crosses val="autoZero"/>
        <c:auto val="1"/>
        <c:lblAlgn val="ctr"/>
        <c:lblOffset val="100"/>
        <c:noMultiLvlLbl val="0"/>
      </c:catAx>
      <c:valAx>
        <c:axId val="1132213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2211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/>
              <a:t>Estimated Units (No DLC): 3 Scenarios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Sheet2!$C$16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Sheet2!$D$15:$G$15</c:f>
              <c:strCache>
                <c:ptCount val="4"/>
                <c:pt idx="0">
                  <c:v>Year 1 Units</c:v>
                </c:pt>
                <c:pt idx="1">
                  <c:v>Year 2 Units</c:v>
                </c:pt>
                <c:pt idx="2">
                  <c:v>Year 3 Units</c:v>
                </c:pt>
                <c:pt idx="3">
                  <c:v>3-Year Total Units</c:v>
                </c:pt>
              </c:strCache>
            </c:strRef>
          </c:cat>
          <c:val>
            <c:numRef>
              <c:f>Sheet2!$D$16:$G$16</c:f>
              <c:numCache>
                <c:formatCode>#,##0</c:formatCode>
                <c:ptCount val="4"/>
                <c:pt idx="0">
                  <c:v>4000</c:v>
                </c:pt>
                <c:pt idx="1">
                  <c:v>2000</c:v>
                </c:pt>
                <c:pt idx="2">
                  <c:v>1000</c:v>
                </c:pt>
                <c:pt idx="3" formatCode="#,##0_);\(#,##0\)">
                  <c:v>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F3-43A3-A61B-C64772E2B5A7}"/>
            </c:ext>
          </c:extLst>
        </c:ser>
        <c:ser>
          <c:idx val="1"/>
          <c:order val="1"/>
          <c:tx>
            <c:strRef>
              <c:f>Sheet2!$C$17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Sheet2!$D$15:$G$15</c:f>
              <c:strCache>
                <c:ptCount val="4"/>
                <c:pt idx="0">
                  <c:v>Year 1 Units</c:v>
                </c:pt>
                <c:pt idx="1">
                  <c:v>Year 2 Units</c:v>
                </c:pt>
                <c:pt idx="2">
                  <c:v>Year 3 Units</c:v>
                </c:pt>
                <c:pt idx="3">
                  <c:v>3-Year Total Units</c:v>
                </c:pt>
              </c:strCache>
            </c:strRef>
          </c:cat>
          <c:val>
            <c:numRef>
              <c:f>Sheet2!$D$17:$G$17</c:f>
              <c:numCache>
                <c:formatCode>#,##0</c:formatCode>
                <c:ptCount val="4"/>
                <c:pt idx="0">
                  <c:v>12000</c:v>
                </c:pt>
                <c:pt idx="1">
                  <c:v>7000</c:v>
                </c:pt>
                <c:pt idx="2">
                  <c:v>4000</c:v>
                </c:pt>
                <c:pt idx="3" formatCode="#,##0_);\(#,##0\)">
                  <c:v>23000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F3-43A3-A61B-C64772E2B5A7}"/>
            </c:ext>
          </c:extLst>
        </c:ser>
        <c:ser>
          <c:idx val="2"/>
          <c:order val="2"/>
          <c:tx>
            <c:strRef>
              <c:f>Sheet2!$C$18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Sheet2!$D$15:$G$15</c:f>
              <c:strCache>
                <c:ptCount val="4"/>
                <c:pt idx="0">
                  <c:v>Year 1 Units</c:v>
                </c:pt>
                <c:pt idx="1">
                  <c:v>Year 2 Units</c:v>
                </c:pt>
                <c:pt idx="2">
                  <c:v>Year 3 Units</c:v>
                </c:pt>
                <c:pt idx="3">
                  <c:v>3-Year Total Units</c:v>
                </c:pt>
              </c:strCache>
            </c:strRef>
          </c:cat>
          <c:val>
            <c:numRef>
              <c:f>Sheet2!$D$18:$G$18</c:f>
              <c:numCache>
                <c:formatCode>#,##0</c:formatCode>
                <c:ptCount val="4"/>
                <c:pt idx="0">
                  <c:v>25000</c:v>
                </c:pt>
                <c:pt idx="1">
                  <c:v>12000</c:v>
                </c:pt>
                <c:pt idx="2">
                  <c:v>8000</c:v>
                </c:pt>
                <c:pt idx="3" formatCode="#,##0_);\(#,##0\)">
                  <c:v>45000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F3-43A3-A61B-C64772E2B5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73360144"/>
        <c:axId val="1273357264"/>
      </c:barChart>
      <c:catAx>
        <c:axId val="127336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3357264"/>
        <c:crosses val="autoZero"/>
        <c:auto val="1"/>
        <c:lblAlgn val="ctr"/>
        <c:lblOffset val="100"/>
        <c:noMultiLvlLbl val="0"/>
      </c:catAx>
      <c:valAx>
        <c:axId val="1273357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336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/>
              <a:t>Total Net Sales Estimate (w/</a:t>
            </a:r>
            <a:r>
              <a:rPr lang="en-US" b="1" u="sng" baseline="0"/>
              <a:t> DLC) </a:t>
            </a:r>
            <a:r>
              <a:rPr lang="en-US" b="1" u="sng"/>
              <a:t>: 3 Scenarios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Base Game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Sheet2!$C$3:$C$5</c:f>
              <c:strCache>
                <c:ptCount val="3"/>
                <c:pt idx="0">
                  <c:v>Conservative</c:v>
                </c:pt>
                <c:pt idx="1">
                  <c:v>Base</c:v>
                </c:pt>
                <c:pt idx="2">
                  <c:v>Optimistic</c:v>
                </c:pt>
              </c:strCache>
            </c:strRef>
          </c:cat>
          <c:val>
            <c:numRef>
              <c:f>Sheet2!$D$3:$D$5</c:f>
              <c:numCache>
                <c:formatCode>"$"#,##0_);[Red]\("$"#,##0\)</c:formatCode>
                <c:ptCount val="3"/>
                <c:pt idx="0">
                  <c:v>73500</c:v>
                </c:pt>
                <c:pt idx="1">
                  <c:v>241500</c:v>
                </c:pt>
                <c:pt idx="2">
                  <c:v>472500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2A-4BDB-8524-A8A4F7367B91}"/>
            </c:ext>
          </c:extLst>
        </c:ser>
        <c:ser>
          <c:idx val="1"/>
          <c:order val="1"/>
          <c:tx>
            <c:strRef>
              <c:f>Sheet2!$E$2</c:f>
              <c:strCache>
                <c:ptCount val="1"/>
                <c:pt idx="0">
                  <c:v>DLC Revenue (3yr Cumulative 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Sheet2!$C$3:$C$5</c:f>
              <c:strCache>
                <c:ptCount val="3"/>
                <c:pt idx="0">
                  <c:v>Conservative</c:v>
                </c:pt>
                <c:pt idx="1">
                  <c:v>Base</c:v>
                </c:pt>
                <c:pt idx="2">
                  <c:v>Optimistic</c:v>
                </c:pt>
              </c:strCache>
            </c:strRef>
          </c:cat>
          <c:val>
            <c:numRef>
              <c:f>Sheet2!$E$3:$E$5</c:f>
              <c:numCache>
                <c:formatCode>"$"#,##0_);[Red]\("$"#,##0\)</c:formatCode>
                <c:ptCount val="3"/>
                <c:pt idx="0">
                  <c:v>11000</c:v>
                </c:pt>
                <c:pt idx="1">
                  <c:v>90500</c:v>
                </c:pt>
                <c:pt idx="2">
                  <c:v>330750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2A-4BDB-8524-A8A4F7367B91}"/>
            </c:ext>
          </c:extLst>
        </c:ser>
        <c:ser>
          <c:idx val="2"/>
          <c:order val="2"/>
          <c:tx>
            <c:strRef>
              <c:f>Sheet2!$F$2</c:f>
              <c:strCache>
                <c:ptCount val="1"/>
                <c:pt idx="0">
                  <c:v>Total 3-Year Revenue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Sheet2!$C$3:$C$5</c:f>
              <c:strCache>
                <c:ptCount val="3"/>
                <c:pt idx="0">
                  <c:v>Conservative</c:v>
                </c:pt>
                <c:pt idx="1">
                  <c:v>Base</c:v>
                </c:pt>
                <c:pt idx="2">
                  <c:v>Optimistic</c:v>
                </c:pt>
              </c:strCache>
            </c:strRef>
          </c:cat>
          <c:val>
            <c:numRef>
              <c:f>Sheet2!$F$3:$F$5</c:f>
              <c:numCache>
                <c:formatCode>"$"#,##0_);[Red]\("$"#,##0\)</c:formatCode>
                <c:ptCount val="3"/>
                <c:pt idx="0">
                  <c:v>85000</c:v>
                </c:pt>
                <c:pt idx="1">
                  <c:v>332000</c:v>
                </c:pt>
                <c:pt idx="2">
                  <c:v>803000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2A-4BDB-8524-A8A4F7367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1796016"/>
        <c:axId val="1311789776"/>
      </c:barChart>
      <c:catAx>
        <c:axId val="131179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1789776"/>
        <c:crosses val="autoZero"/>
        <c:auto val="1"/>
        <c:lblAlgn val="ctr"/>
        <c:lblOffset val="100"/>
        <c:noMultiLvlLbl val="0"/>
      </c:catAx>
      <c:valAx>
        <c:axId val="1311789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179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Judge may ask: “Why is your conservative model lower than your benchmark (PLAYNE)?</a:t>
            </a:r>
            <a:br>
              <a:rPr lang="en-US"/>
            </a:br>
            <a:r>
              <a:rPr lang="en-US"/>
              <a:t>Greg thinks:  Because PLAYNE seems more like an actual video game than </a:t>
            </a:r>
            <a:r>
              <a:rPr lang="en-US"/>
              <a:t>ECHOSCAPE</a:t>
            </a:r>
            <a:r>
              <a:rPr lang="en-US"/>
              <a:t> (i.e. graphics, world, a character you control)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Judge may ask: “Why is your conservative model lower than your benchmark (PLAYNE)?</a:t>
            </a:r>
            <a:br>
              <a:rPr lang="en-US"/>
            </a:br>
            <a:r>
              <a:rPr lang="en-US"/>
              <a:t>Greg thinks:  Because PLAYNE seems more like an actual video game than </a:t>
            </a:r>
            <a:r>
              <a:rPr lang="en-US"/>
              <a:t>ECHOSCAPE</a:t>
            </a:r>
            <a:r>
              <a:rPr lang="en-US"/>
              <a:t> (i.e. graphics, world, a character you control)</a:t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Conservative – 15% Attach Rate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 of 100 buyers, 15 buy at least one DLC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Why 15%?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Steam indie DLC attach rates commonly range </a:t>
            </a:r>
            <a:r>
              <a:rPr b="1" lang="en-US"/>
              <a:t>10–20%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Meditation product may not drive strong expansion demand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Limited marketing for DLC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Lower retention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This assumes: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Users try it occasionally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Few “power users”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Base – 25% Attach Rate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in 4 users buys additional content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25%?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Reasonable if: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Users form a habit and actually meditate regularly 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Soundscapes are differentiated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Early Access builds community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Still conservative compared to successful indie DLC-driven games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This assumes: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Some repeat usage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Clear value in new sound environments (user reviews)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Moderate review strength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Optimistic – 35% Attach Rate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Meaning: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in 3 buyers purchases DLC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35%?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Achievable if: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Strong retention loop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Soundscapes feel meaningfully different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Ongoing updates signal active support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Reviews are Very Positive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Also assumes: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Higher average pack purchase (2 per buyer)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Some “super users” buying all expansions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This requires: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Real product-market fit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Community engagement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Consistent release cadence</a:t>
            </a:r>
            <a:br>
              <a:rPr lang="en-US"/>
            </a:br>
            <a:br>
              <a:rPr lang="en-US"/>
            </a:br>
            <a:r>
              <a:rPr lang="en-US"/>
              <a:t>Greg says:  $330k for DLC seemed high.  The math works if </a:t>
            </a:r>
            <a:r>
              <a:rPr b="1" lang="en-US"/>
              <a:t>15,750 DLC buyers (35% of 45k units) purchases an average of 6 soundscape packs</a:t>
            </a:r>
            <a:r>
              <a:rPr lang="en-US"/>
              <a:t> over the 3-year period.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(To help if anyone asks “Why not the app store?”  Basically: much more crowded space when it comes to meditation)</a:t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457200" y="274320"/>
            <a:ext cx="6430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 Model : Base Game Only (no DLC)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457200" y="1097280"/>
            <a:ext cx="5374805" cy="187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Assumptions: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Platform: Steam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Price: $14.99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per Unit: ~$10.50 (after 30% platform fee)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Marketing Budget: $5,000 (pre-launch focus)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Access: 6 months prior to full launch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Benchmark: PLAYNE estimated 10k–50k lifetime units</a:t>
            </a:r>
            <a:endParaRPr/>
          </a:p>
        </p:txBody>
      </p:sp>
      <p:graphicFrame>
        <p:nvGraphicFramePr>
          <p:cNvPr id="91" name="Google Shape;91;p1"/>
          <p:cNvGraphicFramePr/>
          <p:nvPr/>
        </p:nvGraphicFramePr>
        <p:xfrm>
          <a:off x="457199" y="31473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{909489DF-E139-4EB6-A96B-EA5A8A0CA492}</a:tableStyleId>
              </a:tblPr>
              <a:tblGrid>
                <a:gridCol w="1121375"/>
                <a:gridCol w="1482800"/>
                <a:gridCol w="2214950"/>
                <a:gridCol w="1556950"/>
                <a:gridCol w="1853525"/>
              </a:tblGrid>
              <a:tr h="22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1 Net Revenue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2 Net Revenue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3 Net Revenue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3-Year Total Net Revenue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Conservative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$42,000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$21,000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$10,500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$73,500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22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$126,000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$73,500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$42,000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$241,500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22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Optimistic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$262,500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$126,000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$84,000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$472,500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" name="Google Shape;92;p1"/>
          <p:cNvGraphicFramePr/>
          <p:nvPr/>
        </p:nvGraphicFramePr>
        <p:xfrm>
          <a:off x="457198" y="41082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{909489DF-E139-4EB6-A96B-EA5A8A0CA492}</a:tableStyleId>
              </a:tblPr>
              <a:tblGrid>
                <a:gridCol w="1121375"/>
                <a:gridCol w="1482800"/>
                <a:gridCol w="2214950"/>
                <a:gridCol w="1556950"/>
                <a:gridCol w="1853525"/>
              </a:tblGrid>
              <a:tr h="22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1 Units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2 Units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3 Units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3-Year Total Units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Conservative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4,000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2,000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7,000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22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12,000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7,000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4,000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23,000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22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Optimistic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25,000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12,000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8,000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45,000 </a:t>
                      </a:r>
                      <a:endParaRPr/>
                    </a:p>
                  </a:txBody>
                  <a:tcPr marT="4625" marB="0" marR="4625" marL="46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457200" y="274320"/>
            <a:ext cx="6430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 Model : Base Game Only (no DLC)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457200" y="1097280"/>
            <a:ext cx="5374805" cy="187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Assumptions: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Platform: Steam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Price: $14.99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per Unit: ~$10.50 (after 30% platform fee)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Marketing Budget: $5,000 (pre-launch focus)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Access: 6 months prior to full launch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Benchmark: PLAYNE estimated 10k–50k lifetime units</a:t>
            </a:r>
            <a:endParaRPr/>
          </a:p>
        </p:txBody>
      </p:sp>
      <p:graphicFrame>
        <p:nvGraphicFramePr>
          <p:cNvPr id="100" name="Google Shape;100;p2"/>
          <p:cNvGraphicFramePr/>
          <p:nvPr/>
        </p:nvGraphicFramePr>
        <p:xfrm>
          <a:off x="170481" y="3274457"/>
          <a:ext cx="4266447" cy="2718995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01" name="Google Shape;101;p2"/>
          <p:cNvGraphicFramePr/>
          <p:nvPr/>
        </p:nvGraphicFramePr>
        <p:xfrm>
          <a:off x="4608915" y="3274457"/>
          <a:ext cx="4266447" cy="2718995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457200" y="274320"/>
            <a:ext cx="733899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 Model : Base Game + Soundscape Packs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457200" y="1097280"/>
            <a:ext cx="618778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DLC Assumptions: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soundscape packs released per year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DLC Price: $4.99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per DLC: ~$3.50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 rates vary by scenario (see notes)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(Based on generalized Steam indie DLC attach-rate bands)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9" name="Google Shape;109;p3"/>
          <p:cNvGraphicFramePr/>
          <p:nvPr/>
        </p:nvGraphicFramePr>
        <p:xfrm>
          <a:off x="457200" y="29224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{909489DF-E139-4EB6-A96B-EA5A8A0CA492}</a:tableStyleId>
              </a:tblPr>
              <a:tblGrid>
                <a:gridCol w="1088275"/>
                <a:gridCol w="2041650"/>
                <a:gridCol w="2293500"/>
                <a:gridCol w="2806150"/>
              </a:tblGrid>
              <a:tr h="21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Game Revenue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DLC Revenue (3yr Cumulative )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3-Year Revenue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2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Conservative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$73,500 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$11,000 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$85,000 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21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$241,500 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$90,500 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$332,000 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21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Optimistic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$472,500 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$330,750 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$803,000 </a:t>
                      </a:r>
                      <a:endParaRPr/>
                    </a:p>
                  </a:txBody>
                  <a:tcPr marT="4500" marB="0" marR="4500" marL="4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0" name="Google Shape;110;p3"/>
          <p:cNvGraphicFramePr/>
          <p:nvPr/>
        </p:nvGraphicFramePr>
        <p:xfrm>
          <a:off x="2286000" y="3943027"/>
          <a:ext cx="4572000" cy="27432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Steam vs App Store(s)</a:t>
            </a:r>
            <a:endParaRPr/>
          </a:p>
        </p:txBody>
      </p:sp>
      <p:grpSp>
        <p:nvGrpSpPr>
          <p:cNvPr id="117" name="Google Shape;117;p4"/>
          <p:cNvGrpSpPr/>
          <p:nvPr/>
        </p:nvGrpSpPr>
        <p:grpSpPr>
          <a:xfrm>
            <a:off x="2045254" y="1447182"/>
            <a:ext cx="5490817" cy="1871800"/>
            <a:chOff x="2045254" y="1447182"/>
            <a:chExt cx="5490817" cy="1871800"/>
          </a:xfrm>
        </p:grpSpPr>
        <p:sp>
          <p:nvSpPr>
            <p:cNvPr id="118" name="Google Shape;118;p4"/>
            <p:cNvSpPr txBox="1"/>
            <p:nvPr/>
          </p:nvSpPr>
          <p:spPr>
            <a:xfrm>
              <a:off x="3527287" y="1447182"/>
              <a:ext cx="2089426" cy="549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n-US" sz="1600" u="sng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Steam Model</a:t>
              </a:r>
              <a:endParaRPr/>
            </a:p>
          </p:txBody>
        </p:sp>
        <p:sp>
          <p:nvSpPr>
            <p:cNvPr id="119" name="Google Shape;119;p4"/>
            <p:cNvSpPr txBox="1"/>
            <p:nvPr/>
          </p:nvSpPr>
          <p:spPr>
            <a:xfrm>
              <a:off x="2045254" y="2116762"/>
              <a:ext cx="2526746" cy="1202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70000" lnSpcReduction="20000"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rPr b="1" i="0" lang="en-US" sz="1600" u="sng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Pros</a:t>
              </a:r>
              <a:endParaRPr/>
            </a:p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Char char="•"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Higher willingness to pay upfront</a:t>
              </a:r>
              <a:endParaRPr/>
            </a:p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Char char="•"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Less saturated than meditation apps</a:t>
              </a:r>
              <a:endParaRPr/>
            </a:p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Char char="•"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Novel positioning</a:t>
              </a:r>
              <a:endParaRPr/>
            </a:p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Char char="•"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Fewer direct competitors</a:t>
              </a:r>
              <a:endParaRPr/>
            </a:p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Char char="•"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Easier premium pricing</a:t>
              </a:r>
              <a:endParaRPr/>
            </a:p>
            <a:p>
              <a:pPr indent="-21463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None/>
              </a:pPr>
              <a:r>
                <a:t/>
              </a:r>
              <a:endParaRPr b="1" i="0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463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463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None/>
              </a:pPr>
              <a:r>
                <a:t/>
              </a:r>
              <a:endParaRPr b="1" i="0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4"/>
            <p:cNvSpPr txBox="1"/>
            <p:nvPr/>
          </p:nvSpPr>
          <p:spPr>
            <a:xfrm>
              <a:off x="5009325" y="2116762"/>
              <a:ext cx="2526746" cy="1202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77500" lnSpcReduction="20000"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rPr b="1" i="0" lang="en-US" sz="1600" u="sng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</a:t>
              </a:r>
              <a:endParaRPr/>
            </a:p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Smaller wellness audience</a:t>
              </a:r>
              <a:endParaRPr/>
            </a:p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Requires controller + PC (???)</a:t>
              </a:r>
              <a:endParaRPr/>
            </a:p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Harder to build habit</a:t>
              </a:r>
              <a:endParaRPr/>
            </a:p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built-in wellness discovery funnel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t/>
              </a:r>
              <a:endParaRPr b="1" i="0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t/>
              </a:r>
              <a:endParaRPr b="1" i="0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t/>
              </a:r>
              <a:endParaRPr b="1" i="0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4"/>
          <p:cNvGrpSpPr/>
          <p:nvPr/>
        </p:nvGrpSpPr>
        <p:grpSpPr>
          <a:xfrm>
            <a:off x="1955533" y="3539018"/>
            <a:ext cx="6217476" cy="1871800"/>
            <a:chOff x="2045254" y="1447182"/>
            <a:chExt cx="5859667" cy="1871800"/>
          </a:xfrm>
        </p:grpSpPr>
        <p:sp>
          <p:nvSpPr>
            <p:cNvPr id="122" name="Google Shape;122;p4"/>
            <p:cNvSpPr txBox="1"/>
            <p:nvPr/>
          </p:nvSpPr>
          <p:spPr>
            <a:xfrm>
              <a:off x="3527287" y="1447182"/>
              <a:ext cx="2089426" cy="549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n-US" sz="1600" u="sng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 Model</a:t>
              </a:r>
              <a:endParaRPr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2045254" y="2116762"/>
              <a:ext cx="2780746" cy="1202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i="0" lang="en-US" sz="1100" u="sng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Pros</a:t>
              </a:r>
              <a:endParaRPr/>
            </a:p>
            <a:p>
              <a:pPr indent="-285750" lvl="0" marL="28575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Massive meditation TAM</a:t>
              </a:r>
              <a:endParaRPr/>
            </a:p>
            <a:p>
              <a:pPr indent="-285750" lvl="0" marL="28575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Habit -forming device (phone)</a:t>
              </a:r>
              <a:endParaRPr/>
            </a:p>
            <a:p>
              <a:pPr indent="-285750" lvl="0" marL="28575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Subscription-native ecosystem</a:t>
              </a:r>
              <a:endParaRPr/>
            </a:p>
            <a:p>
              <a:pPr indent="-285750" lvl="0" marL="28575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Users conditioned to pay monthly </a:t>
              </a:r>
              <a:endParaRPr/>
            </a:p>
            <a:p>
              <a:pPr indent="-20320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t/>
              </a:r>
              <a:endParaRPr b="1" i="0" sz="13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841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841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 txBox="1"/>
            <p:nvPr/>
          </p:nvSpPr>
          <p:spPr>
            <a:xfrm>
              <a:off x="5009325" y="2116762"/>
              <a:ext cx="2895596" cy="1202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85000" lnSpcReduction="10000"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rPr b="1" i="0" lang="en-US" sz="1300" u="sng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</a:t>
              </a:r>
              <a:endParaRPr/>
            </a:p>
            <a:p>
              <a:pPr indent="-285750" lvl="0" marL="28575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Char char="•"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Extremely competitive</a:t>
              </a:r>
              <a:endParaRPr/>
            </a:p>
            <a:p>
              <a:pPr indent="-285750" lvl="1" marL="74295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Char char="•"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(competing with Calm, Headspace)</a:t>
              </a:r>
              <a:endParaRPr/>
            </a:p>
            <a:p>
              <a:pPr indent="-285750" lvl="0" marL="28575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Char char="•"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 CAC (customer acquisition cost)</a:t>
              </a:r>
              <a:endParaRPr/>
            </a:p>
            <a:p>
              <a:pPr indent="-285750" lvl="0" marL="28575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Arial"/>
                <a:buChar char="•"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Need stronger retention design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t/>
              </a:r>
              <a:endParaRPr b="1" i="0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t/>
              </a:r>
              <a:endParaRPr b="1" i="0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t/>
              </a:r>
              <a:endParaRPr b="1" i="0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