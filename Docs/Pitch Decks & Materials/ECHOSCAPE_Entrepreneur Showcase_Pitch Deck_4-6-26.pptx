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ms-office.chartcolorstyle+xml" PartName="/ppt/charts/colors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drawingml.chart+xml" PartName="/ppt/charts/chart2.xml"/>
  <Override ContentType="application/vnd.openxmlformats-officedocument.drawingml.chart+xml" PartName="/ppt/charts/char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920">
          <p15:clr>
            <a:srgbClr val="A4A3A4"/>
          </p15:clr>
        </p15:guide>
        <p15:guide id="2" pos="1248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hJw71DabEhTX4oRTGxzG3h2jzx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C080E2-A015-4C19-A2E3-906974BEA917}">
  <a:tblStyle styleId="{17C080E2-A015-4C19-A2E3-906974BEA91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920" orient="horz"/>
        <p:guide pos="12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customschemas.google.com/relationships/presentationmetadata" Target="meta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7ECBDB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46</c:v>
                </c:pt>
                <c:pt idx="2">
                  <c:v>56</c:v>
                </c:pt>
                <c:pt idx="3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0A-8245-B74E-E685DE0F4A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678081375"/>
        <c:axId val="678067279"/>
      </c:barChart>
      <c:catAx>
        <c:axId val="67808137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78067279"/>
        <c:crosses val="autoZero"/>
        <c:auto val="1"/>
        <c:lblAlgn val="ctr"/>
        <c:lblOffset val="100"/>
        <c:noMultiLvlLbl val="0"/>
      </c:catAx>
      <c:valAx>
        <c:axId val="6780672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780813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rgbClr val="7ECBDB"/>
              </a:solidFill>
              <a:ln w="19050">
                <a:solidFill>
                  <a:srgbClr val="FFFFFF">
                    <a:alpha val="0"/>
                  </a:srgb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E29-7C44-A12A-331C3B56595D}"/>
              </c:ext>
            </c:extLst>
          </c:dPt>
          <c:dPt>
            <c:idx val="1"/>
            <c:bubble3D val="0"/>
            <c:spPr>
              <a:solidFill>
                <a:srgbClr val="B06AD1">
                  <a:alpha val="58000"/>
                </a:srgbClr>
              </a:solidFill>
              <a:ln w="19050">
                <a:solidFill>
                  <a:srgbClr val="FFFFFF">
                    <a:alpha val="0"/>
                  </a:srgb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AE29-7C44-A12A-331C3B56595D}"/>
              </c:ext>
            </c:extLst>
          </c:dPt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97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29-7C44-A12A-331C3B5659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/>
          <p:nvPr>
            <p:ph idx="2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8" name="Google Shape;98;p2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Graph or pie chart image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Stock image of a depressed/stressed guy</a:t>
            </a:r>
            <a:endParaRPr/>
          </a:p>
        </p:txBody>
      </p:sp>
      <p:sp>
        <p:nvSpPr>
          <p:cNvPr id="100" name="Google Shape;100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/>
          <p:nvPr>
            <p:ph idx="2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1" name="Google Shape;231;p12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68 Million Gamers Have Anxiety in the US alone. There are roughly 205 million gamers in the US alone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are 3.2 billion gamers worldwide. When you take into account the average of 30% of the population having an anxiety disorder (whether diagnosed or not), you get ~1 billion</a:t>
            </a:r>
            <a:endParaRPr/>
          </a:p>
        </p:txBody>
      </p:sp>
      <p:sp>
        <p:nvSpPr>
          <p:cNvPr id="233" name="Google Shape;233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28,000 users a month at $5/month become $140,000/month revenue, the $1.68 M/month and $5.04 M/month</a:t>
            </a:r>
            <a:endParaRPr/>
          </a:p>
        </p:txBody>
      </p:sp>
      <p:sp>
        <p:nvSpPr>
          <p:cNvPr id="262" name="Google Shape;262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/>
          <p:nvPr>
            <p:ph idx="2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chart" Target="../charts/char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chart" Target="../charts/chart2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jpg"/><Relationship Id="rId5" Type="http://schemas.openxmlformats.org/officeDocument/2006/relationships/image" Target="../media/image5.jpg"/><Relationship Id="rId6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2.jpg"/><Relationship Id="rId5" Type="http://schemas.openxmlformats.org/officeDocument/2006/relationships/image" Target="../media/image19.png"/><Relationship Id="rId6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6400800" y="3622000"/>
            <a:ext cx="9607117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ECHOSCAPE</a:t>
            </a:r>
            <a:endParaRPr/>
          </a:p>
        </p:txBody>
      </p:sp>
      <p:pic>
        <p:nvPicPr>
          <p:cNvPr descr="A blue and purple geometrical design&#10;&#10;AI-generated content may be incorrect."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6742" y="3238500"/>
            <a:ext cx="3795458" cy="372841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8679051" y="1112778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074943" y="5499437"/>
            <a:ext cx="62588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727E8B"/>
                </a:solidFill>
                <a:latin typeface="Arial"/>
                <a:ea typeface="Arial"/>
                <a:cs typeface="Arial"/>
                <a:sym typeface="Arial"/>
              </a:rPr>
              <a:t>Create Your Calm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>
            <a:off x="1254834" y="3077354"/>
            <a:ext cx="9141759" cy="1720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People Shut Down</a:t>
            </a:r>
            <a:endParaRPr/>
          </a:p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Relationships Degrade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157702" y="5544969"/>
            <a:ext cx="5990219" cy="1720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“Great Rewiring of Childhood”</a:t>
            </a:r>
            <a:r>
              <a:rPr baseline="30000" lang="en-US" sz="5070">
                <a:solidFill>
                  <a:srgbClr val="727E8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5070">
              <a:solidFill>
                <a:srgbClr val="727E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157702" y="8072742"/>
            <a:ext cx="8307876" cy="8352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200% increase since 2003</a:t>
            </a:r>
            <a:endParaRPr/>
          </a:p>
        </p:txBody>
      </p:sp>
      <p:pic>
        <p:nvPicPr>
          <p:cNvPr descr="A blue and purple geometrical design&#10;&#10;AI-generated content may be incorrect."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3100" y="9029700"/>
            <a:ext cx="1028700" cy="101052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1166403" y="952500"/>
            <a:ext cx="16092897" cy="1047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44% of Adults have Anxiety Disorders</a:t>
            </a:r>
            <a:r>
              <a:rPr baseline="30000" lang="en-US" sz="6600">
                <a:solidFill>
                  <a:srgbClr val="727E8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6600">
              <a:solidFill>
                <a:srgbClr val="727E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2"/>
          <p:cNvCxnSpPr/>
          <p:nvPr/>
        </p:nvCxnSpPr>
        <p:spPr>
          <a:xfrm>
            <a:off x="1157702" y="2171700"/>
            <a:ext cx="4267200" cy="0"/>
          </a:xfrm>
          <a:prstGeom prst="straightConnector1">
            <a:avLst/>
          </a:prstGeom>
          <a:noFill/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2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BDAAFC">
              <a:alpha val="58039"/>
            </a:srgbClr>
          </a:solidFill>
          <a:ln cap="flat" cmpd="sng" w="19050">
            <a:solidFill>
              <a:srgbClr val="9E85E3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0" y="10149840"/>
            <a:ext cx="18288000" cy="137160"/>
          </a:xfrm>
          <a:prstGeom prst="rect">
            <a:avLst/>
          </a:prstGeom>
          <a:solidFill>
            <a:srgbClr val="7ECBDB"/>
          </a:solidFill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erson sitting in a row&#10;&#10;AI-generated content may be incorrect." id="111" name="Google Shape;11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86120" y="3937430"/>
            <a:ext cx="6547046" cy="43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1164160" y="3233449"/>
            <a:ext cx="15919704" cy="1567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6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1157702" y="6417579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1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$1 T+</a:t>
            </a:r>
            <a:endParaRPr b="1" sz="7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1157702" y="7789179"/>
            <a:ext cx="42062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0A0D8"/>
                </a:solidFill>
                <a:latin typeface="Arial"/>
                <a:ea typeface="Arial"/>
                <a:cs typeface="Arial"/>
                <a:sym typeface="Arial"/>
              </a:rPr>
              <a:t>Economic hit</a:t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0A0D8"/>
                </a:solidFill>
                <a:latin typeface="Arial"/>
                <a:ea typeface="Arial"/>
                <a:cs typeface="Arial"/>
                <a:sym typeface="Arial"/>
              </a:rPr>
              <a:t>annually</a:t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1157702" y="2705100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1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12 Bn</a:t>
            </a:r>
            <a:endParaRPr sz="7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1157702" y="4076700"/>
            <a:ext cx="42062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0A0D8"/>
                </a:solidFill>
                <a:latin typeface="Arial"/>
                <a:ea typeface="Arial"/>
                <a:cs typeface="Arial"/>
                <a:sym typeface="Arial"/>
              </a:rPr>
              <a:t>Working days</a:t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0A0D8"/>
                </a:solidFill>
                <a:latin typeface="Arial"/>
                <a:ea typeface="Arial"/>
                <a:cs typeface="Arial"/>
                <a:sym typeface="Arial"/>
              </a:rPr>
              <a:t>lost per year</a:t>
            </a:r>
            <a:r>
              <a:rPr baseline="30000" lang="en-US" sz="3600">
                <a:solidFill>
                  <a:srgbClr val="727E8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3600">
              <a:solidFill>
                <a:srgbClr val="727E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5370400" y="4642119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1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63%</a:t>
            </a:r>
            <a:endParaRPr sz="7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370400" y="6013719"/>
            <a:ext cx="4459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0A0D8"/>
                </a:solidFill>
                <a:latin typeface="Arial"/>
                <a:ea typeface="Arial"/>
                <a:cs typeface="Arial"/>
                <a:sym typeface="Arial"/>
              </a:rPr>
              <a:t>Mental health sick days due to burnout</a:t>
            </a:r>
            <a:r>
              <a:rPr baseline="30000" lang="en-US" sz="3600">
                <a:solidFill>
                  <a:srgbClr val="727E8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3600">
              <a:solidFill>
                <a:srgbClr val="727E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3"/>
          <p:cNvCxnSpPr/>
          <p:nvPr/>
        </p:nvCxnSpPr>
        <p:spPr>
          <a:xfrm>
            <a:off x="1157702" y="2171700"/>
            <a:ext cx="4267200" cy="0"/>
          </a:xfrm>
          <a:prstGeom prst="straightConnector1">
            <a:avLst/>
          </a:prstGeom>
          <a:noFill/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3"/>
          <p:cNvSpPr txBox="1"/>
          <p:nvPr/>
        </p:nvSpPr>
        <p:spPr>
          <a:xfrm>
            <a:off x="1166403" y="952500"/>
            <a:ext cx="16092897" cy="1047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Cost of</a:t>
            </a:r>
            <a:r>
              <a:rPr b="1" lang="en-US" sz="6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Anxiety at Work</a:t>
            </a:r>
            <a:endParaRPr b="1" sz="6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BDAAFC">
              <a:alpha val="58039"/>
            </a:srgbClr>
          </a:solidFill>
          <a:ln cap="flat" cmpd="sng" w="19050">
            <a:solidFill>
              <a:srgbClr val="9E85E3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0" y="10149840"/>
            <a:ext cx="18288000" cy="137160"/>
          </a:xfrm>
          <a:prstGeom prst="rect">
            <a:avLst/>
          </a:prstGeom>
          <a:solidFill>
            <a:srgbClr val="7ECBDB"/>
          </a:solidFill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and purple geometrical design&#10;&#10;AI-generated content may be incorrect."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3100" y="9029700"/>
            <a:ext cx="1028700" cy="1010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xious brain vs normal brain" id="129" name="Google Shape;129;p3"/>
          <p:cNvPicPr preferRelativeResize="0"/>
          <p:nvPr/>
        </p:nvPicPr>
        <p:blipFill rotWithShape="1">
          <a:blip r:embed="rId4">
            <a:alphaModFix/>
          </a:blip>
          <a:srcRect b="132" l="32297" r="19527" t="-132"/>
          <a:stretch/>
        </p:blipFill>
        <p:spPr>
          <a:xfrm>
            <a:off x="10896600" y="3015982"/>
            <a:ext cx="6038116" cy="6038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/>
        </p:nvSpPr>
        <p:spPr>
          <a:xfrm>
            <a:off x="1166403" y="3746835"/>
            <a:ext cx="8658930" cy="1696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Reshape the brain in 8 weeks</a:t>
            </a:r>
            <a:endParaRPr/>
          </a:p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(Harvard Medical School)</a:t>
            </a:r>
            <a:r>
              <a:rPr baseline="30000" lang="en-US" sz="5070">
                <a:solidFill>
                  <a:srgbClr val="727E8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5070">
              <a:solidFill>
                <a:srgbClr val="727E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1166403" y="7034539"/>
            <a:ext cx="8307876" cy="8352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Reduces Cortisol Levels</a:t>
            </a:r>
            <a:endParaRPr/>
          </a:p>
        </p:txBody>
      </p:sp>
      <p:pic>
        <p:nvPicPr>
          <p:cNvPr id="136" name="Google Shape;136;p4"/>
          <p:cNvPicPr preferRelativeResize="0"/>
          <p:nvPr/>
        </p:nvPicPr>
        <p:blipFill rotWithShape="1">
          <a:blip r:embed="rId3">
            <a:alphaModFix/>
          </a:blip>
          <a:srcRect b="-4" l="29393" r="8699" t="4"/>
          <a:stretch/>
        </p:blipFill>
        <p:spPr>
          <a:xfrm>
            <a:off x="11277600" y="3242971"/>
            <a:ext cx="5315591" cy="531559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 txBox="1"/>
          <p:nvPr/>
        </p:nvSpPr>
        <p:spPr>
          <a:xfrm>
            <a:off x="1166403" y="952500"/>
            <a:ext cx="16092897" cy="1047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Meditation Reduces Symptoms by 30%</a:t>
            </a:r>
            <a:endParaRPr/>
          </a:p>
        </p:txBody>
      </p:sp>
      <p:cxnSp>
        <p:nvCxnSpPr>
          <p:cNvPr id="138" name="Google Shape;138;p4"/>
          <p:cNvCxnSpPr/>
          <p:nvPr/>
        </p:nvCxnSpPr>
        <p:spPr>
          <a:xfrm>
            <a:off x="1157702" y="2171700"/>
            <a:ext cx="4267200" cy="0"/>
          </a:xfrm>
          <a:prstGeom prst="straightConnector1">
            <a:avLst/>
          </a:prstGeom>
          <a:noFill/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4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BDAAFC">
              <a:alpha val="58039"/>
            </a:srgbClr>
          </a:solidFill>
          <a:ln cap="flat" cmpd="sng" w="19050">
            <a:solidFill>
              <a:srgbClr val="9E85E3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0" y="10149840"/>
            <a:ext cx="18288000" cy="137160"/>
          </a:xfrm>
          <a:prstGeom prst="rect">
            <a:avLst/>
          </a:prstGeom>
          <a:solidFill>
            <a:srgbClr val="7ECBDB"/>
          </a:solidFill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and purple geometrical design&#10;&#10;AI-generated content may be incorrect." id="141" name="Google Shape;1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83100" y="9029700"/>
            <a:ext cx="1028700" cy="1010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/>
          <p:nvPr/>
        </p:nvSpPr>
        <p:spPr>
          <a:xfrm>
            <a:off x="2507251" y="3184591"/>
            <a:ext cx="13411200" cy="811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ECHOSCAPE Proprietary Customer Research</a:t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1166403" y="952500"/>
            <a:ext cx="16092897" cy="1030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Only 20% of People Meditate Regularly</a:t>
            </a:r>
            <a:r>
              <a:rPr baseline="30000" lang="en-US" sz="6600">
                <a:solidFill>
                  <a:srgbClr val="727E8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aseline="30000" i="1" sz="6600">
              <a:solidFill>
                <a:srgbClr val="727E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5"/>
          <p:cNvCxnSpPr/>
          <p:nvPr/>
        </p:nvCxnSpPr>
        <p:spPr>
          <a:xfrm>
            <a:off x="1157702" y="2171700"/>
            <a:ext cx="4267200" cy="0"/>
          </a:xfrm>
          <a:prstGeom prst="straightConnector1">
            <a:avLst/>
          </a:prstGeom>
          <a:noFill/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5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BDAAFC">
              <a:alpha val="58039"/>
            </a:srgbClr>
          </a:solidFill>
          <a:ln cap="flat" cmpd="sng" w="19050">
            <a:solidFill>
              <a:srgbClr val="9E85E3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0" y="10149840"/>
            <a:ext cx="18288000" cy="137160"/>
          </a:xfrm>
          <a:prstGeom prst="rect">
            <a:avLst/>
          </a:prstGeom>
          <a:solidFill>
            <a:srgbClr val="7ECBDB"/>
          </a:solidFill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and purple geometrical design&#10;&#10;AI-generated content may be incorrect." id="151" name="Google Shape;1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3100" y="9029700"/>
            <a:ext cx="1028700" cy="101052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2" name="Google Shape;152;p5"/>
          <p:cNvGraphicFramePr/>
          <p:nvPr/>
        </p:nvGraphicFramePr>
        <p:xfrm>
          <a:off x="8117076" y="4229100"/>
          <a:ext cx="8839200" cy="3820322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53" name="Google Shape;153;p5"/>
          <p:cNvSpPr txBox="1"/>
          <p:nvPr/>
        </p:nvSpPr>
        <p:spPr>
          <a:xfrm>
            <a:off x="1397226" y="4229100"/>
            <a:ext cx="6607326" cy="3515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3" marL="457200" marR="0" rtl="0" algn="r">
              <a:lnSpc>
                <a:spcPct val="1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00" u="none" cap="none" strike="noStrike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“My mind wanders too much”</a:t>
            </a:r>
            <a:endParaRPr/>
          </a:p>
          <a:p>
            <a:pPr indent="0" lvl="3" marL="457200" marR="0" rtl="0" algn="r">
              <a:lnSpc>
                <a:spcPct val="1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00" u="none" cap="none" strike="noStrike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“Not enough time”</a:t>
            </a:r>
            <a:endParaRPr/>
          </a:p>
          <a:p>
            <a:pPr indent="0" lvl="3" marL="457200" marR="0" rtl="0" algn="r">
              <a:lnSpc>
                <a:spcPct val="1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00" u="none" cap="none" strike="noStrike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“I need to move”</a:t>
            </a:r>
            <a:endParaRPr/>
          </a:p>
          <a:p>
            <a:pPr indent="0" lvl="3" marL="457200" marR="0" rtl="0" algn="r">
              <a:lnSpc>
                <a:spcPct val="1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00" u="none" cap="none" strike="noStrike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“It feels like a chore”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16924149" y="570337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15960804" y="4487606"/>
            <a:ext cx="11079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62%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13965426" y="6212793"/>
            <a:ext cx="11079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46%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15201642" y="5364605"/>
            <a:ext cx="11079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56%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13411428" y="7113995"/>
            <a:ext cx="11079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41%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2567002" y="8141868"/>
            <a:ext cx="13293739" cy="811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Consistency increases when people feel </a:t>
            </a:r>
            <a:r>
              <a:rPr b="1" lang="en-US" sz="507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calm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mputer and headphones with a screen on it&#10;&#10;AI-generated content may be incorrect." id="164" name="Google Shape;1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purple geometrical design&#10;&#10;AI-generated content may be incorrect." id="165" name="Google Shape;16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83100" y="9029700"/>
            <a:ext cx="1028700" cy="1010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/>
        </p:nvSpPr>
        <p:spPr>
          <a:xfrm>
            <a:off x="1166403" y="3162300"/>
            <a:ext cx="12458157" cy="1696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Sound Improves</a:t>
            </a:r>
            <a:endParaRPr/>
          </a:p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Calmness</a:t>
            </a: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 By 65%</a:t>
            </a:r>
            <a:r>
              <a:rPr baseline="30000" lang="en-US" sz="5070">
                <a:solidFill>
                  <a:srgbClr val="727E8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71" name="Google Shape;171;p7"/>
          <p:cNvSpPr txBox="1"/>
          <p:nvPr/>
        </p:nvSpPr>
        <p:spPr>
          <a:xfrm>
            <a:off x="1166403" y="6342674"/>
            <a:ext cx="13328995" cy="1696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Calmness</a:t>
            </a: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 strengthens </a:t>
            </a:r>
            <a:endParaRPr/>
          </a:p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/>
          </a:p>
        </p:txBody>
      </p:sp>
      <p:sp>
        <p:nvSpPr>
          <p:cNvPr id="172" name="Google Shape;172;p7"/>
          <p:cNvSpPr txBox="1"/>
          <p:nvPr/>
        </p:nvSpPr>
        <p:spPr>
          <a:xfrm>
            <a:off x="1166403" y="952500"/>
            <a:ext cx="16092897" cy="1030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Sound Healing is Neuroscience</a:t>
            </a:r>
            <a:endParaRPr/>
          </a:p>
        </p:txBody>
      </p:sp>
      <p:cxnSp>
        <p:nvCxnSpPr>
          <p:cNvPr id="173" name="Google Shape;173;p7"/>
          <p:cNvCxnSpPr/>
          <p:nvPr/>
        </p:nvCxnSpPr>
        <p:spPr>
          <a:xfrm>
            <a:off x="1157702" y="2171700"/>
            <a:ext cx="4267200" cy="0"/>
          </a:xfrm>
          <a:prstGeom prst="straightConnector1">
            <a:avLst/>
          </a:prstGeom>
          <a:noFill/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7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BDAAFC">
              <a:alpha val="58039"/>
            </a:srgbClr>
          </a:solidFill>
          <a:ln cap="flat" cmpd="sng" w="19050">
            <a:solidFill>
              <a:srgbClr val="9E85E3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0" y="10149840"/>
            <a:ext cx="18288000" cy="137160"/>
          </a:xfrm>
          <a:prstGeom prst="rect">
            <a:avLst/>
          </a:prstGeom>
          <a:solidFill>
            <a:srgbClr val="7ECBDB"/>
          </a:solidFill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and purple geometrical design&#10;&#10;AI-generated content may be incorrect." id="176" name="Google Shape;1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3100" y="9029700"/>
            <a:ext cx="1028700" cy="1010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oup of colorful lights on a floor&#10;&#10;AI-generated content may be incorrect." id="177" name="Google Shape;17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8200" y="3467100"/>
            <a:ext cx="8876140" cy="4311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 txBox="1"/>
          <p:nvPr/>
        </p:nvSpPr>
        <p:spPr>
          <a:xfrm>
            <a:off x="1166401" y="3162300"/>
            <a:ext cx="16511998" cy="1696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Meditation</a:t>
            </a:r>
            <a:r>
              <a:rPr lang="en-US" sz="36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in Motion </a:t>
            </a:r>
            <a:endParaRPr/>
          </a:p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Reduces Anxiety Symptoms</a:t>
            </a:r>
            <a:r>
              <a:rPr baseline="30000" lang="en-US" sz="5070">
                <a:solidFill>
                  <a:srgbClr val="727E8B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83" name="Google Shape;183;p8"/>
          <p:cNvSpPr txBox="1"/>
          <p:nvPr/>
        </p:nvSpPr>
        <p:spPr>
          <a:xfrm>
            <a:off x="1166401" y="6342674"/>
            <a:ext cx="16511998" cy="1696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Sensory Input Reduces Stress,</a:t>
            </a:r>
            <a:endParaRPr/>
          </a:p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Increases Concentration</a:t>
            </a:r>
            <a:r>
              <a:rPr baseline="30000" lang="en-US" sz="5070">
                <a:solidFill>
                  <a:srgbClr val="727E8B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pic>
        <p:nvPicPr>
          <p:cNvPr descr="A person sitting on a rug in a room with a pink light&#10;&#10;AI-generated content may be incorrect." id="184" name="Google Shape;184;p8"/>
          <p:cNvPicPr preferRelativeResize="0"/>
          <p:nvPr/>
        </p:nvPicPr>
        <p:blipFill rotWithShape="1">
          <a:blip r:embed="rId3">
            <a:alphaModFix/>
          </a:blip>
          <a:srcRect b="0" l="0" r="50679" t="43374"/>
          <a:stretch/>
        </p:blipFill>
        <p:spPr>
          <a:xfrm>
            <a:off x="10591800" y="2628900"/>
            <a:ext cx="6805203" cy="585989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 txBox="1"/>
          <p:nvPr/>
        </p:nvSpPr>
        <p:spPr>
          <a:xfrm>
            <a:off x="1166403" y="952500"/>
            <a:ext cx="16092897" cy="1030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Game Controller Drives Calmness</a:t>
            </a:r>
            <a:endParaRPr/>
          </a:p>
        </p:txBody>
      </p:sp>
      <p:cxnSp>
        <p:nvCxnSpPr>
          <p:cNvPr id="186" name="Google Shape;186;p8"/>
          <p:cNvCxnSpPr/>
          <p:nvPr/>
        </p:nvCxnSpPr>
        <p:spPr>
          <a:xfrm>
            <a:off x="1157702" y="2171700"/>
            <a:ext cx="4267200" cy="0"/>
          </a:xfrm>
          <a:prstGeom prst="straightConnector1">
            <a:avLst/>
          </a:prstGeom>
          <a:noFill/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8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BDAAFC">
              <a:alpha val="58039"/>
            </a:srgbClr>
          </a:solidFill>
          <a:ln cap="flat" cmpd="sng" w="19050">
            <a:solidFill>
              <a:srgbClr val="9E85E3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0" y="10149840"/>
            <a:ext cx="18288000" cy="137160"/>
          </a:xfrm>
          <a:prstGeom prst="rect">
            <a:avLst/>
          </a:prstGeom>
          <a:solidFill>
            <a:srgbClr val="7ECBDB"/>
          </a:solidFill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and purple geometrical design&#10;&#10;AI-generated content may be incorrect." id="189" name="Google Shape;1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83100" y="9029700"/>
            <a:ext cx="1028700" cy="1010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mputer with a sound wave screen&#10;&#10;AI-generated content may be incorrect." id="194" name="Google Shape;1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/>
          <p:nvPr/>
        </p:nvSpPr>
        <p:spPr>
          <a:xfrm>
            <a:off x="16764000" y="8382000"/>
            <a:ext cx="1524000" cy="1905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and purple geometrical design&#10;&#10;AI-generated content may be incorrect." id="196" name="Google Shape;19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83100" y="9029700"/>
            <a:ext cx="1028700" cy="1010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/>
        </p:nvSpPr>
        <p:spPr>
          <a:xfrm>
            <a:off x="1157702" y="3064411"/>
            <a:ext cx="8307876" cy="5298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i="1" lang="en-US" sz="36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Calming</a:t>
            </a:r>
            <a:r>
              <a:rPr i="1" lang="en-US" sz="36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 yet stimulating!”</a:t>
            </a:r>
            <a:endParaRPr/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“Unreal”</a:t>
            </a:r>
            <a:endParaRPr/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“Fun and relaxing”</a:t>
            </a:r>
            <a:endParaRPr/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“It was very </a:t>
            </a:r>
            <a:r>
              <a:rPr b="1" i="1" lang="en-US" sz="36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calming</a:t>
            </a:r>
            <a:r>
              <a:rPr i="1" lang="en-US" sz="36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 and intriguing”</a:t>
            </a:r>
            <a:endParaRPr/>
          </a:p>
        </p:txBody>
      </p:sp>
      <p:sp>
        <p:nvSpPr>
          <p:cNvPr id="202" name="Google Shape;202;p10"/>
          <p:cNvSpPr txBox="1"/>
          <p:nvPr/>
        </p:nvSpPr>
        <p:spPr>
          <a:xfrm>
            <a:off x="1166403" y="952500"/>
            <a:ext cx="16283397" cy="2147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97% of ECHOSCAPE Users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Felt More Calm</a:t>
            </a:r>
            <a:endParaRPr/>
          </a:p>
        </p:txBody>
      </p:sp>
      <p:cxnSp>
        <p:nvCxnSpPr>
          <p:cNvPr id="203" name="Google Shape;203;p10"/>
          <p:cNvCxnSpPr/>
          <p:nvPr/>
        </p:nvCxnSpPr>
        <p:spPr>
          <a:xfrm>
            <a:off x="1157702" y="3314700"/>
            <a:ext cx="4267200" cy="0"/>
          </a:xfrm>
          <a:prstGeom prst="straightConnector1">
            <a:avLst/>
          </a:prstGeom>
          <a:noFill/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10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BDAAFC">
              <a:alpha val="58039"/>
            </a:srgbClr>
          </a:solidFill>
          <a:ln cap="flat" cmpd="sng" w="19050">
            <a:solidFill>
              <a:srgbClr val="9E85E3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0" y="10149840"/>
            <a:ext cx="18288000" cy="137160"/>
          </a:xfrm>
          <a:prstGeom prst="rect">
            <a:avLst/>
          </a:prstGeom>
          <a:solidFill>
            <a:srgbClr val="7ECBDB"/>
          </a:solidFill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and purple geometrical design&#10;&#10;AI-generated content may be incorrect." id="206" name="Google Shape;2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3100" y="9029700"/>
            <a:ext cx="1028700" cy="101052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7" name="Google Shape;207;p10"/>
          <p:cNvGraphicFramePr/>
          <p:nvPr/>
        </p:nvGraphicFramePr>
        <p:xfrm>
          <a:off x="8686800" y="2827963"/>
          <a:ext cx="8307876" cy="6429167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08" name="Google Shape;208;p10"/>
          <p:cNvSpPr txBox="1"/>
          <p:nvPr/>
        </p:nvSpPr>
        <p:spPr>
          <a:xfrm>
            <a:off x="10287000" y="5143500"/>
            <a:ext cx="244490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0">
                <a:solidFill>
                  <a:srgbClr val="0C1B2A"/>
                </a:solidFill>
                <a:latin typeface="Arial"/>
                <a:ea typeface="Arial"/>
                <a:cs typeface="Arial"/>
                <a:sym typeface="Arial"/>
              </a:rPr>
              <a:t>97%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" name="Google Shape;213;p11"/>
          <p:cNvGraphicFramePr/>
          <p:nvPr/>
        </p:nvGraphicFramePr>
        <p:xfrm>
          <a:off x="7077609" y="18610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{17C080E2-A015-4C19-A2E3-906974BEA917}</a:tableStyleId>
              </a:tblPr>
              <a:tblGrid>
                <a:gridCol w="2026800"/>
                <a:gridCol w="2026800"/>
                <a:gridCol w="2026800"/>
                <a:gridCol w="2026800"/>
              </a:tblGrid>
              <a:tr h="162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00BF6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00BF6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F1330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00BF6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00BF6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F1330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00BF6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00BF6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00BF6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F1330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F1330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00BF6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00BF6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00BF6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00BF6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F1330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00BF6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F1330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F1330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7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 u="none" cap="none" strike="noStrike">
                          <a:solidFill>
                            <a:srgbClr val="F1330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2825" marB="202825" marR="202825" marL="202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11"/>
          <p:cNvSpPr/>
          <p:nvPr/>
        </p:nvSpPr>
        <p:spPr>
          <a:xfrm>
            <a:off x="9349956" y="339392"/>
            <a:ext cx="1491616" cy="1523537"/>
          </a:xfrm>
          <a:custGeom>
            <a:rect b="b" l="l" r="r" t="t"/>
            <a:pathLst>
              <a:path extrusionOk="0" h="1523537" w="1491616">
                <a:moveTo>
                  <a:pt x="0" y="0"/>
                </a:moveTo>
                <a:lnTo>
                  <a:pt x="1491616" y="0"/>
                </a:lnTo>
                <a:lnTo>
                  <a:pt x="1491616" y="1523537"/>
                </a:lnTo>
                <a:lnTo>
                  <a:pt x="0" y="15235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11512504" y="422705"/>
            <a:ext cx="1356912" cy="1356912"/>
          </a:xfrm>
          <a:custGeom>
            <a:rect b="b" l="l" r="r" t="t"/>
            <a:pathLst>
              <a:path extrusionOk="0" h="1356912" w="1356912">
                <a:moveTo>
                  <a:pt x="0" y="0"/>
                </a:moveTo>
                <a:lnTo>
                  <a:pt x="1356912" y="0"/>
                </a:lnTo>
                <a:lnTo>
                  <a:pt x="1356912" y="1356911"/>
                </a:lnTo>
                <a:lnTo>
                  <a:pt x="0" y="13569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13581677" y="422705"/>
            <a:ext cx="1356912" cy="1356912"/>
          </a:xfrm>
          <a:custGeom>
            <a:rect b="b" l="l" r="r" t="t"/>
            <a:pathLst>
              <a:path extrusionOk="0" h="1356912" w="1356912">
                <a:moveTo>
                  <a:pt x="0" y="0"/>
                </a:moveTo>
                <a:lnTo>
                  <a:pt x="1356912" y="0"/>
                </a:lnTo>
                <a:lnTo>
                  <a:pt x="1356912" y="1356911"/>
                </a:lnTo>
                <a:lnTo>
                  <a:pt x="0" y="13569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1"/>
          <p:cNvSpPr txBox="1"/>
          <p:nvPr/>
        </p:nvSpPr>
        <p:spPr>
          <a:xfrm>
            <a:off x="2298651" y="5612996"/>
            <a:ext cx="4137656" cy="58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Multi-sensory</a:t>
            </a:r>
            <a:endParaRPr/>
          </a:p>
        </p:txBody>
      </p:sp>
      <p:sp>
        <p:nvSpPr>
          <p:cNvPr id="218" name="Google Shape;218;p11"/>
          <p:cNvSpPr txBox="1"/>
          <p:nvPr/>
        </p:nvSpPr>
        <p:spPr>
          <a:xfrm>
            <a:off x="2597246" y="4076135"/>
            <a:ext cx="3839061" cy="58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Controller Input</a:t>
            </a:r>
            <a:endParaRPr/>
          </a:p>
        </p:txBody>
      </p:sp>
      <p:sp>
        <p:nvSpPr>
          <p:cNvPr id="219" name="Google Shape;219;p11"/>
          <p:cNvSpPr txBox="1"/>
          <p:nvPr/>
        </p:nvSpPr>
        <p:spPr>
          <a:xfrm>
            <a:off x="969151" y="7149857"/>
            <a:ext cx="5467156" cy="58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Personalized Journey</a:t>
            </a:r>
            <a:endParaRPr/>
          </a:p>
        </p:txBody>
      </p:sp>
      <p:sp>
        <p:nvSpPr>
          <p:cNvPr id="220" name="Google Shape;220;p11"/>
          <p:cNvSpPr txBox="1"/>
          <p:nvPr/>
        </p:nvSpPr>
        <p:spPr>
          <a:xfrm>
            <a:off x="1215539" y="8686718"/>
            <a:ext cx="5256627" cy="58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Create Your Calm</a:t>
            </a:r>
            <a:endParaRPr/>
          </a:p>
        </p:txBody>
      </p:sp>
      <p:sp>
        <p:nvSpPr>
          <p:cNvPr id="221" name="Google Shape;221;p11"/>
          <p:cNvSpPr txBox="1"/>
          <p:nvPr/>
        </p:nvSpPr>
        <p:spPr>
          <a:xfrm>
            <a:off x="433003" y="2424887"/>
            <a:ext cx="6039163" cy="58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Immersive Sound Library</a:t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7236819" y="2169187"/>
            <a:ext cx="1553851" cy="7596070"/>
          </a:xfrm>
          <a:prstGeom prst="rect">
            <a:avLst/>
          </a:prstGeom>
          <a:noFill/>
          <a:ln cap="flat" cmpd="sng" w="7620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and purple geometrical design&#10;&#10;AI-generated content may be incorrect." id="223" name="Google Shape;22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0" y="365051"/>
            <a:ext cx="1430913" cy="1405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purple geometrical design&#10;&#10;AI-generated content may be incorrect." id="224" name="Google Shape;22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83100" y="9029700"/>
            <a:ext cx="1028700" cy="101052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1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BDAAFC">
              <a:alpha val="58039"/>
            </a:srgbClr>
          </a:solidFill>
          <a:ln cap="flat" cmpd="sng" w="19050">
            <a:solidFill>
              <a:srgbClr val="9E85E3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0" y="10149840"/>
            <a:ext cx="18288000" cy="137160"/>
          </a:xfrm>
          <a:prstGeom prst="rect">
            <a:avLst/>
          </a:prstGeom>
          <a:solidFill>
            <a:srgbClr val="7ECBDB"/>
          </a:solidFill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6934200" y="1710035"/>
            <a:ext cx="21392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ECHOSCAPE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12"/>
          <p:cNvGrpSpPr/>
          <p:nvPr/>
        </p:nvGrpSpPr>
        <p:grpSpPr>
          <a:xfrm>
            <a:off x="1028700" y="2866351"/>
            <a:ext cx="6489123" cy="6489123"/>
            <a:chOff x="0" y="0"/>
            <a:chExt cx="812800" cy="812800"/>
          </a:xfrm>
        </p:grpSpPr>
        <p:sp>
          <p:nvSpPr>
            <p:cNvPr id="237" name="Google Shape;237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E85E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2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31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12"/>
          <p:cNvGrpSpPr/>
          <p:nvPr/>
        </p:nvGrpSpPr>
        <p:grpSpPr>
          <a:xfrm>
            <a:off x="1777615" y="4364182"/>
            <a:ext cx="4991292" cy="4991292"/>
            <a:chOff x="0" y="0"/>
            <a:chExt cx="812800" cy="812800"/>
          </a:xfrm>
        </p:grpSpPr>
        <p:sp>
          <p:nvSpPr>
            <p:cNvPr id="240" name="Google Shape;240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D4ED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4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" name="Google Shape;242;p12"/>
          <p:cNvGrpSpPr/>
          <p:nvPr/>
        </p:nvGrpSpPr>
        <p:grpSpPr>
          <a:xfrm>
            <a:off x="2730211" y="6197044"/>
            <a:ext cx="3086100" cy="3158430"/>
            <a:chOff x="0" y="-19050"/>
            <a:chExt cx="812800" cy="831850"/>
          </a:xfrm>
        </p:grpSpPr>
        <p:sp>
          <p:nvSpPr>
            <p:cNvPr id="243" name="Google Shape;243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2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45" name="Google Shape;245;p12"/>
          <p:cNvCxnSpPr/>
          <p:nvPr/>
        </p:nvCxnSpPr>
        <p:spPr>
          <a:xfrm flipH="1" rot="10800000">
            <a:off x="4273262" y="3725075"/>
            <a:ext cx="11056808" cy="4896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12"/>
          <p:cNvCxnSpPr/>
          <p:nvPr/>
        </p:nvCxnSpPr>
        <p:spPr>
          <a:xfrm flipH="1" rot="10800000">
            <a:off x="4273262" y="5437382"/>
            <a:ext cx="11056808" cy="4896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12"/>
          <p:cNvCxnSpPr/>
          <p:nvPr/>
        </p:nvCxnSpPr>
        <p:spPr>
          <a:xfrm>
            <a:off x="4273262" y="7793375"/>
            <a:ext cx="10995205" cy="4896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2"/>
          <p:cNvSpPr txBox="1"/>
          <p:nvPr/>
        </p:nvSpPr>
        <p:spPr>
          <a:xfrm>
            <a:off x="9144000" y="3208801"/>
            <a:ext cx="6186070" cy="448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Digital Mental Health Market</a:t>
            </a:r>
            <a:endParaRPr/>
          </a:p>
        </p:txBody>
      </p:sp>
      <p:sp>
        <p:nvSpPr>
          <p:cNvPr id="249" name="Google Shape;249;p12"/>
          <p:cNvSpPr txBox="1"/>
          <p:nvPr/>
        </p:nvSpPr>
        <p:spPr>
          <a:xfrm>
            <a:off x="9144000" y="4932116"/>
            <a:ext cx="6186070" cy="448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Meditation App and Gaming</a:t>
            </a:r>
            <a:endParaRPr/>
          </a:p>
        </p:txBody>
      </p:sp>
      <p:sp>
        <p:nvSpPr>
          <p:cNvPr id="250" name="Google Shape;250;p12"/>
          <p:cNvSpPr txBox="1"/>
          <p:nvPr/>
        </p:nvSpPr>
        <p:spPr>
          <a:xfrm>
            <a:off x="9144000" y="7294316"/>
            <a:ext cx="5921721" cy="448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Age 18-35 Anxious Gamers</a:t>
            </a:r>
            <a:endParaRPr/>
          </a:p>
        </p:txBody>
      </p:sp>
      <p:sp>
        <p:nvSpPr>
          <p:cNvPr id="251" name="Google Shape;251;p12"/>
          <p:cNvSpPr txBox="1"/>
          <p:nvPr/>
        </p:nvSpPr>
        <p:spPr>
          <a:xfrm>
            <a:off x="3315306" y="3089351"/>
            <a:ext cx="19159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$28 Bn+</a:t>
            </a:r>
            <a:endParaRPr/>
          </a:p>
        </p:txBody>
      </p:sp>
      <p:sp>
        <p:nvSpPr>
          <p:cNvPr id="252" name="Google Shape;252;p12"/>
          <p:cNvSpPr txBox="1"/>
          <p:nvPr/>
        </p:nvSpPr>
        <p:spPr>
          <a:xfrm>
            <a:off x="3276832" y="4810424"/>
            <a:ext cx="19928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$480 M+</a:t>
            </a:r>
            <a:endParaRPr/>
          </a:p>
        </p:txBody>
      </p:sp>
      <p:sp>
        <p:nvSpPr>
          <p:cNvPr id="253" name="Google Shape;253;p12"/>
          <p:cNvSpPr txBox="1"/>
          <p:nvPr/>
        </p:nvSpPr>
        <p:spPr>
          <a:xfrm>
            <a:off x="3405073" y="7154585"/>
            <a:ext cx="1736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06AD1"/>
                </a:solidFill>
                <a:latin typeface="Arial"/>
                <a:ea typeface="Arial"/>
                <a:cs typeface="Arial"/>
                <a:sym typeface="Arial"/>
              </a:rPr>
              <a:t>$20 M+</a:t>
            </a:r>
            <a:endParaRPr/>
          </a:p>
        </p:txBody>
      </p:sp>
      <p:sp>
        <p:nvSpPr>
          <p:cNvPr id="254" name="Google Shape;254;p12"/>
          <p:cNvSpPr txBox="1"/>
          <p:nvPr/>
        </p:nvSpPr>
        <p:spPr>
          <a:xfrm>
            <a:off x="1166403" y="952500"/>
            <a:ext cx="16283397" cy="1030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67 Million US Gamers Have Anxiety</a:t>
            </a:r>
            <a:r>
              <a:rPr baseline="30000" lang="en-US" sz="6600">
                <a:solidFill>
                  <a:srgbClr val="727E8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cxnSp>
        <p:nvCxnSpPr>
          <p:cNvPr id="255" name="Google Shape;255;p12"/>
          <p:cNvCxnSpPr/>
          <p:nvPr/>
        </p:nvCxnSpPr>
        <p:spPr>
          <a:xfrm>
            <a:off x="1157702" y="2171700"/>
            <a:ext cx="4267200" cy="0"/>
          </a:xfrm>
          <a:prstGeom prst="straightConnector1">
            <a:avLst/>
          </a:prstGeom>
          <a:noFill/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2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BDAAFC">
              <a:alpha val="58039"/>
            </a:srgbClr>
          </a:solidFill>
          <a:ln cap="flat" cmpd="sng" w="19050">
            <a:solidFill>
              <a:srgbClr val="9E85E3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0" y="10149840"/>
            <a:ext cx="18288000" cy="137160"/>
          </a:xfrm>
          <a:prstGeom prst="rect">
            <a:avLst/>
          </a:prstGeom>
          <a:solidFill>
            <a:srgbClr val="7ECBDB"/>
          </a:solidFill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and purple geometrical design&#10;&#10;AI-generated content may be incorrect." id="258" name="Google Shape;2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3100" y="9029700"/>
            <a:ext cx="1028700" cy="1010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 txBox="1"/>
          <p:nvPr/>
        </p:nvSpPr>
        <p:spPr>
          <a:xfrm>
            <a:off x="1166403" y="952500"/>
            <a:ext cx="16283397" cy="1030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Built-in User-base of 147 Million Gamers</a:t>
            </a:r>
            <a:endParaRPr/>
          </a:p>
        </p:txBody>
      </p:sp>
      <p:cxnSp>
        <p:nvCxnSpPr>
          <p:cNvPr id="265" name="Google Shape;265;p13"/>
          <p:cNvCxnSpPr/>
          <p:nvPr/>
        </p:nvCxnSpPr>
        <p:spPr>
          <a:xfrm>
            <a:off x="1157702" y="2171700"/>
            <a:ext cx="4267200" cy="0"/>
          </a:xfrm>
          <a:prstGeom prst="straightConnector1">
            <a:avLst/>
          </a:prstGeom>
          <a:noFill/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13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BDAAFC">
              <a:alpha val="58039"/>
            </a:srgbClr>
          </a:solidFill>
          <a:ln cap="flat" cmpd="sng" w="19050">
            <a:solidFill>
              <a:srgbClr val="9E85E3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0" y="10149840"/>
            <a:ext cx="18288000" cy="137160"/>
          </a:xfrm>
          <a:prstGeom prst="rect">
            <a:avLst/>
          </a:prstGeom>
          <a:solidFill>
            <a:srgbClr val="7ECBDB"/>
          </a:solidFill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and purple geometrical design&#10;&#10;AI-generated content may be incorrect." id="268" name="Google Shape;2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3100" y="9029700"/>
            <a:ext cx="1028700" cy="101052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3"/>
          <p:cNvSpPr/>
          <p:nvPr/>
        </p:nvSpPr>
        <p:spPr>
          <a:xfrm>
            <a:off x="1164160" y="3015982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1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$15-20</a:t>
            </a:r>
            <a:endParaRPr b="1" sz="7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1164160" y="4387582"/>
            <a:ext cx="42062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0A0D8"/>
                </a:solidFill>
                <a:latin typeface="Arial"/>
                <a:ea typeface="Arial"/>
                <a:cs typeface="Arial"/>
                <a:sym typeface="Arial"/>
              </a:rPr>
              <a:t>Steam Release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0A0D8"/>
                </a:solidFill>
                <a:latin typeface="Arial"/>
                <a:ea typeface="Arial"/>
                <a:cs typeface="Arial"/>
                <a:sym typeface="Arial"/>
              </a:rPr>
              <a:t>PC and Mac</a:t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8694645" y="3015982"/>
            <a:ext cx="453560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1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$5/month</a:t>
            </a:r>
            <a:endParaRPr b="1" sz="7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8694644" y="4387582"/>
            <a:ext cx="5265663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0A0D8"/>
                </a:solidFill>
                <a:latin typeface="Arial"/>
                <a:ea typeface="Arial"/>
                <a:cs typeface="Arial"/>
                <a:sym typeface="Arial"/>
              </a:rPr>
              <a:t>Scale to iOS/Android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0A0D8"/>
                </a:solidFill>
                <a:latin typeface="Arial"/>
                <a:ea typeface="Arial"/>
                <a:cs typeface="Arial"/>
                <a:sym typeface="Arial"/>
              </a:rPr>
              <a:t>and Corporate Wellness</a:t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1157702" y="6297532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1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$5</a:t>
            </a:r>
            <a:endParaRPr b="1" sz="7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1157702" y="7669132"/>
            <a:ext cx="42062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0A0D8"/>
                </a:solidFill>
                <a:latin typeface="Arial"/>
                <a:ea typeface="Arial"/>
                <a:cs typeface="Arial"/>
                <a:sym typeface="Arial"/>
              </a:rPr>
              <a:t>Quarterly Expansion Release</a:t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8686800" y="6347136"/>
            <a:ext cx="453560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01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$5 M</a:t>
            </a:r>
            <a:endParaRPr b="1" sz="760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8686800" y="7718736"/>
            <a:ext cx="42062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0A0D8"/>
                </a:solidFill>
                <a:latin typeface="Arial"/>
                <a:ea typeface="Arial"/>
                <a:cs typeface="Arial"/>
                <a:sym typeface="Arial"/>
              </a:rPr>
              <a:t>3 Year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B0A0D8"/>
                </a:solidFill>
                <a:latin typeface="Arial"/>
                <a:ea typeface="Arial"/>
                <a:cs typeface="Arial"/>
                <a:sym typeface="Arial"/>
              </a:rPr>
              <a:t>Revenue</a:t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of a machine&#10;&#10;AI-generated content may be incorrect." id="277" name="Google Shape;27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508" y="4308438"/>
            <a:ext cx="1279692" cy="1279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884108" y="3921926"/>
            <a:ext cx="2105837" cy="2105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093908" y="4414143"/>
            <a:ext cx="1279692" cy="1279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D1B2A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4" name="Google Shape;284;p14"/>
          <p:cNvCxnSpPr/>
          <p:nvPr/>
        </p:nvCxnSpPr>
        <p:spPr>
          <a:xfrm>
            <a:off x="1152543" y="5734833"/>
            <a:ext cx="16230600" cy="0"/>
          </a:xfrm>
          <a:prstGeom prst="straightConnector1">
            <a:avLst/>
          </a:prstGeom>
          <a:noFill/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14"/>
          <p:cNvCxnSpPr/>
          <p:nvPr/>
        </p:nvCxnSpPr>
        <p:spPr>
          <a:xfrm rot="10800000">
            <a:off x="3005751" y="4442713"/>
            <a:ext cx="0" cy="127307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14"/>
          <p:cNvCxnSpPr/>
          <p:nvPr/>
        </p:nvCxnSpPr>
        <p:spPr>
          <a:xfrm rot="10800000">
            <a:off x="7239675" y="4461763"/>
            <a:ext cx="0" cy="127307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7" name="Google Shape;287;p14"/>
          <p:cNvCxnSpPr/>
          <p:nvPr/>
        </p:nvCxnSpPr>
        <p:spPr>
          <a:xfrm rot="10800000">
            <a:off x="11456054" y="4461763"/>
            <a:ext cx="0" cy="127307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14"/>
          <p:cNvCxnSpPr/>
          <p:nvPr/>
        </p:nvCxnSpPr>
        <p:spPr>
          <a:xfrm rot="10800000">
            <a:off x="16037644" y="4423663"/>
            <a:ext cx="0" cy="127307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4"/>
          <p:cNvSpPr txBox="1"/>
          <p:nvPr/>
        </p:nvSpPr>
        <p:spPr>
          <a:xfrm>
            <a:off x="14815989" y="2225547"/>
            <a:ext cx="2443311" cy="167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Year 2+3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Scale to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iOS/Android</a:t>
            </a:r>
            <a:endParaRPr/>
          </a:p>
        </p:txBody>
      </p:sp>
      <p:sp>
        <p:nvSpPr>
          <p:cNvPr id="290" name="Google Shape;290;p14"/>
          <p:cNvSpPr txBox="1"/>
          <p:nvPr/>
        </p:nvSpPr>
        <p:spPr>
          <a:xfrm>
            <a:off x="1152543" y="2225547"/>
            <a:ext cx="3706416" cy="2198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Month 1-3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Hire Team 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of Engineers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for full production</a:t>
            </a:r>
            <a:endParaRPr/>
          </a:p>
        </p:txBody>
      </p:sp>
      <p:sp>
        <p:nvSpPr>
          <p:cNvPr id="291" name="Google Shape;291;p14"/>
          <p:cNvSpPr txBox="1"/>
          <p:nvPr/>
        </p:nvSpPr>
        <p:spPr>
          <a:xfrm>
            <a:off x="5970489" y="2244597"/>
            <a:ext cx="2691259" cy="2198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Month 4-6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Steam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Early Access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User Feeback</a:t>
            </a:r>
            <a:endParaRPr/>
          </a:p>
        </p:txBody>
      </p:sp>
      <p:sp>
        <p:nvSpPr>
          <p:cNvPr id="292" name="Google Shape;292;p14"/>
          <p:cNvSpPr txBox="1"/>
          <p:nvPr/>
        </p:nvSpPr>
        <p:spPr>
          <a:xfrm>
            <a:off x="9941600" y="2263647"/>
            <a:ext cx="3181796" cy="1590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Year 1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Analytics 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Content Updates</a:t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11155680" y="-4206240"/>
            <a:ext cx="10241280" cy="10241280"/>
          </a:xfrm>
          <a:prstGeom prst="ellipse">
            <a:avLst/>
          </a:prstGeom>
          <a:noFill/>
          <a:ln cap="flat" cmpd="sng" w="22850">
            <a:solidFill>
              <a:srgbClr val="9E85E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12435840" y="-2926080"/>
            <a:ext cx="7680960" cy="7680960"/>
          </a:xfrm>
          <a:prstGeom prst="ellipse">
            <a:avLst/>
          </a:prstGeom>
          <a:noFill/>
          <a:ln cap="flat" cmpd="sng" w="22850">
            <a:solidFill>
              <a:srgbClr val="9E85E3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13624560" y="-1737360"/>
            <a:ext cx="5303520" cy="5303520"/>
          </a:xfrm>
          <a:prstGeom prst="ellipse">
            <a:avLst/>
          </a:prstGeom>
          <a:noFill/>
          <a:ln cap="flat" cmpd="sng" w="22850">
            <a:solidFill>
              <a:srgbClr val="9E85E3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14721840" y="-640080"/>
            <a:ext cx="3108960" cy="3108960"/>
          </a:xfrm>
          <a:prstGeom prst="ellipse">
            <a:avLst/>
          </a:prstGeom>
          <a:noFill/>
          <a:ln cap="flat" cmpd="sng" w="22850">
            <a:solidFill>
              <a:srgbClr val="9E85E3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and purple geometrical design&#10;&#10;AI-generated content may be incorrect." id="297" name="Google Shape;2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12290" y="8871114"/>
            <a:ext cx="835209" cy="82045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4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BDAAFC">
              <a:alpha val="58039"/>
            </a:srgbClr>
          </a:solidFill>
          <a:ln cap="flat" cmpd="sng" w="19050">
            <a:solidFill>
              <a:srgbClr val="9E85E3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0" y="10149840"/>
            <a:ext cx="18288000" cy="137160"/>
          </a:xfrm>
          <a:prstGeom prst="rect">
            <a:avLst/>
          </a:prstGeom>
          <a:solidFill>
            <a:srgbClr val="7ECBDB"/>
          </a:solidFill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"/>
          <p:cNvSpPr txBox="1"/>
          <p:nvPr/>
        </p:nvSpPr>
        <p:spPr>
          <a:xfrm>
            <a:off x="685800" y="6778522"/>
            <a:ext cx="5600700" cy="1717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9E85E3"/>
                </a:solidFill>
                <a:latin typeface="Calibri"/>
                <a:ea typeface="Calibri"/>
                <a:cs typeface="Calibri"/>
                <a:sym typeface="Calibri"/>
              </a:rPr>
              <a:t>Mike Ahearn Wilcox</a:t>
            </a:r>
            <a:endParaRPr/>
          </a:p>
          <a:p>
            <a:pPr indent="0" lvl="0" marL="0" marR="0" rtl="0" algn="ctr">
              <a:lnSpc>
                <a:spcPct val="138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9E85E3"/>
                </a:solidFill>
                <a:latin typeface="Calibri"/>
                <a:ea typeface="Calibri"/>
                <a:cs typeface="Calibri"/>
                <a:sym typeface="Calibri"/>
              </a:rPr>
              <a:t>Founder</a:t>
            </a:r>
            <a:endParaRPr/>
          </a:p>
        </p:txBody>
      </p:sp>
      <p:sp>
        <p:nvSpPr>
          <p:cNvPr id="306" name="Google Shape;306;p15"/>
          <p:cNvSpPr txBox="1"/>
          <p:nvPr/>
        </p:nvSpPr>
        <p:spPr>
          <a:xfrm>
            <a:off x="13427831" y="6778522"/>
            <a:ext cx="3945769" cy="1717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9E85E3"/>
                </a:solidFill>
                <a:latin typeface="Calibri"/>
                <a:ea typeface="Calibri"/>
                <a:cs typeface="Calibri"/>
                <a:sym typeface="Calibri"/>
              </a:rPr>
              <a:t>Natalia Pollack</a:t>
            </a:r>
            <a:endParaRPr/>
          </a:p>
          <a:p>
            <a:pPr indent="0" lvl="0" marL="0" marR="0" rtl="0" algn="ctr">
              <a:lnSpc>
                <a:spcPct val="138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9E85E3"/>
                </a:solidFill>
                <a:latin typeface="Calibri"/>
                <a:ea typeface="Calibri"/>
                <a:cs typeface="Calibri"/>
                <a:sym typeface="Calibri"/>
              </a:rPr>
              <a:t>Programmer</a:t>
            </a:r>
            <a:endParaRPr/>
          </a:p>
        </p:txBody>
      </p:sp>
      <p:sp>
        <p:nvSpPr>
          <p:cNvPr id="307" name="Google Shape;307;p15"/>
          <p:cNvSpPr txBox="1"/>
          <p:nvPr/>
        </p:nvSpPr>
        <p:spPr>
          <a:xfrm>
            <a:off x="7712832" y="6778522"/>
            <a:ext cx="3831467" cy="1717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9E85E3"/>
                </a:solidFill>
                <a:latin typeface="Calibri"/>
                <a:ea typeface="Calibri"/>
                <a:cs typeface="Calibri"/>
                <a:sym typeface="Calibri"/>
              </a:rPr>
              <a:t>Greg Donovan</a:t>
            </a:r>
            <a:endParaRPr/>
          </a:p>
          <a:p>
            <a:pPr indent="0" lvl="0" marL="0" marR="0" rtl="0" algn="ctr">
              <a:lnSpc>
                <a:spcPct val="138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9E85E3"/>
                </a:solidFill>
                <a:latin typeface="Calibri"/>
                <a:ea typeface="Calibri"/>
                <a:cs typeface="Calibri"/>
                <a:sym typeface="Calibri"/>
              </a:rPr>
              <a:t>Advisor</a:t>
            </a:r>
            <a:endParaRPr/>
          </a:p>
        </p:txBody>
      </p:sp>
      <p:sp>
        <p:nvSpPr>
          <p:cNvPr id="308" name="Google Shape;308;p15"/>
          <p:cNvSpPr txBox="1"/>
          <p:nvPr/>
        </p:nvSpPr>
        <p:spPr>
          <a:xfrm>
            <a:off x="1166403" y="952500"/>
            <a:ext cx="16283397" cy="1030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ECHOSCAPE Team</a:t>
            </a:r>
            <a:endParaRPr b="1" i="1" sz="6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15"/>
          <p:cNvCxnSpPr/>
          <p:nvPr/>
        </p:nvCxnSpPr>
        <p:spPr>
          <a:xfrm>
            <a:off x="1157702" y="2171700"/>
            <a:ext cx="4267200" cy="0"/>
          </a:xfrm>
          <a:prstGeom prst="straightConnector1">
            <a:avLst/>
          </a:prstGeom>
          <a:noFill/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15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BDAAFC">
              <a:alpha val="58039"/>
            </a:srgbClr>
          </a:solidFill>
          <a:ln cap="flat" cmpd="sng" w="19050">
            <a:solidFill>
              <a:srgbClr val="9E85E3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0" y="10149840"/>
            <a:ext cx="18288000" cy="137160"/>
          </a:xfrm>
          <a:prstGeom prst="rect">
            <a:avLst/>
          </a:prstGeom>
          <a:solidFill>
            <a:srgbClr val="7ECBDB"/>
          </a:solidFill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and purple geometrical design&#10;&#10;AI-generated content may be incorrect." id="312" name="Google Shape;3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3100" y="9029700"/>
            <a:ext cx="1028700" cy="1010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rson wearing glasses and a brown polo shirt&#10;&#10;AI-generated content may be incorrect." id="313" name="Google Shape;3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0200" y="2854222"/>
            <a:ext cx="3771900" cy="37719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 person with curly hair and a dog&#10;&#10;AI-generated content may be incorrect." id="314" name="Google Shape;314;p15"/>
          <p:cNvPicPr preferRelativeResize="0"/>
          <p:nvPr/>
        </p:nvPicPr>
        <p:blipFill rotWithShape="1">
          <a:blip r:embed="rId5">
            <a:alphaModFix/>
          </a:blip>
          <a:srcRect b="40069" l="6086" r="11447" t="5006"/>
          <a:stretch/>
        </p:blipFill>
        <p:spPr>
          <a:xfrm>
            <a:off x="13514033" y="2854222"/>
            <a:ext cx="3773364" cy="3773364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15" name="Google Shape;315;p15"/>
          <p:cNvPicPr preferRelativeResize="0"/>
          <p:nvPr/>
        </p:nvPicPr>
        <p:blipFill rotWithShape="1">
          <a:blip r:embed="rId6">
            <a:alphaModFix/>
          </a:blip>
          <a:srcRect b="14118" l="12773" r="13248" t="10747"/>
          <a:stretch/>
        </p:blipFill>
        <p:spPr>
          <a:xfrm>
            <a:off x="7770952" y="2852758"/>
            <a:ext cx="3715225" cy="3773364"/>
          </a:xfrm>
          <a:prstGeom prst="ellipse">
            <a:avLst/>
          </a:prstGeom>
          <a:noFill/>
          <a:ln>
            <a:noFill/>
          </a:ln>
        </p:spPr>
      </p:pic>
      <p:sp>
        <p:nvSpPr>
          <p:cNvPr id="316" name="Google Shape;316;p15"/>
          <p:cNvSpPr/>
          <p:nvPr/>
        </p:nvSpPr>
        <p:spPr>
          <a:xfrm>
            <a:off x="1600202" y="2852757"/>
            <a:ext cx="3771900" cy="3771900"/>
          </a:xfrm>
          <a:prstGeom prst="ellipse">
            <a:avLst/>
          </a:prstGeom>
          <a:solidFill>
            <a:srgbClr val="0F1520">
              <a:alpha val="0"/>
            </a:srgbClr>
          </a:solidFill>
          <a:ln cap="flat" cmpd="sng" w="2540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BD6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7762638" y="2852757"/>
            <a:ext cx="3715225" cy="3773364"/>
          </a:xfrm>
          <a:prstGeom prst="ellipse">
            <a:avLst/>
          </a:prstGeom>
          <a:solidFill>
            <a:srgbClr val="0F1520">
              <a:alpha val="0"/>
            </a:srgbClr>
          </a:solidFill>
          <a:ln cap="flat" cmpd="sng" w="2540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BD6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13543102" y="2832469"/>
            <a:ext cx="3744295" cy="3792187"/>
          </a:xfrm>
          <a:prstGeom prst="ellipse">
            <a:avLst/>
          </a:prstGeom>
          <a:solidFill>
            <a:srgbClr val="0F1520">
              <a:alpha val="0"/>
            </a:srgbClr>
          </a:solidFill>
          <a:ln cap="flat" cmpd="sng" w="2540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BD6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/>
        </p:nvSpPr>
        <p:spPr>
          <a:xfrm>
            <a:off x="1317642" y="3148513"/>
            <a:ext cx="8307876" cy="8352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2 Engineers + 1 Designer</a:t>
            </a:r>
            <a:endParaRPr/>
          </a:p>
        </p:txBody>
      </p:sp>
      <p:sp>
        <p:nvSpPr>
          <p:cNvPr id="324" name="Google Shape;324;p16"/>
          <p:cNvSpPr txBox="1"/>
          <p:nvPr/>
        </p:nvSpPr>
        <p:spPr>
          <a:xfrm>
            <a:off x="1317642" y="5066077"/>
            <a:ext cx="4702158" cy="811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Sound Libraries</a:t>
            </a:r>
            <a:endParaRPr/>
          </a:p>
        </p:txBody>
      </p:sp>
      <p:sp>
        <p:nvSpPr>
          <p:cNvPr id="325" name="Google Shape;325;p16"/>
          <p:cNvSpPr txBox="1"/>
          <p:nvPr/>
        </p:nvSpPr>
        <p:spPr>
          <a:xfrm>
            <a:off x="1317642" y="6972300"/>
            <a:ext cx="8307876" cy="1696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Conventions and </a:t>
            </a:r>
            <a:endParaRPr/>
          </a:p>
          <a:p>
            <a:pPr indent="0" lvl="0" marL="0" marR="0" rtl="0" algn="l">
              <a:lnSpc>
                <a:spcPct val="1363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0">
                <a:solidFill>
                  <a:srgbClr val="9E85E3"/>
                </a:solidFill>
                <a:latin typeface="Arial"/>
                <a:ea typeface="Arial"/>
                <a:cs typeface="Arial"/>
                <a:sym typeface="Arial"/>
              </a:rPr>
              <a:t>Press Outreach</a:t>
            </a:r>
            <a:endParaRPr/>
          </a:p>
        </p:txBody>
      </p:sp>
      <p:sp>
        <p:nvSpPr>
          <p:cNvPr id="326" name="Google Shape;326;p16"/>
          <p:cNvSpPr txBox="1"/>
          <p:nvPr/>
        </p:nvSpPr>
        <p:spPr>
          <a:xfrm>
            <a:off x="9544604" y="4838700"/>
            <a:ext cx="5688806" cy="135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$250,000</a:t>
            </a:r>
            <a:endParaRPr/>
          </a:p>
        </p:txBody>
      </p:sp>
      <p:sp>
        <p:nvSpPr>
          <p:cNvPr id="327" name="Google Shape;327;p16"/>
          <p:cNvSpPr txBox="1"/>
          <p:nvPr/>
        </p:nvSpPr>
        <p:spPr>
          <a:xfrm>
            <a:off x="1166403" y="952500"/>
            <a:ext cx="16283397" cy="1030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Funding for Full Development</a:t>
            </a:r>
            <a:endParaRPr/>
          </a:p>
        </p:txBody>
      </p:sp>
      <p:cxnSp>
        <p:nvCxnSpPr>
          <p:cNvPr id="328" name="Google Shape;328;p16"/>
          <p:cNvCxnSpPr/>
          <p:nvPr/>
        </p:nvCxnSpPr>
        <p:spPr>
          <a:xfrm>
            <a:off x="1157702" y="2171700"/>
            <a:ext cx="4267200" cy="0"/>
          </a:xfrm>
          <a:prstGeom prst="straightConnector1">
            <a:avLst/>
          </a:prstGeom>
          <a:noFill/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16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BDAAFC">
              <a:alpha val="58039"/>
            </a:srgbClr>
          </a:solidFill>
          <a:ln cap="flat" cmpd="sng" w="19050">
            <a:solidFill>
              <a:srgbClr val="9E85E3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0" y="10149840"/>
            <a:ext cx="18288000" cy="137160"/>
          </a:xfrm>
          <a:prstGeom prst="rect">
            <a:avLst/>
          </a:prstGeom>
          <a:solidFill>
            <a:srgbClr val="7ECBDB"/>
          </a:solidFill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and purple geometrical design&#10;&#10;AI-generated content may be incorrect." id="331" name="Google Shape;3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3100" y="9029700"/>
            <a:ext cx="1028700" cy="1010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"/>
          <p:cNvSpPr txBox="1"/>
          <p:nvPr/>
        </p:nvSpPr>
        <p:spPr>
          <a:xfrm>
            <a:off x="11683969" y="6665774"/>
            <a:ext cx="522450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SCAN TO JOIN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OUR JOURNEY</a:t>
            </a:r>
            <a:endParaRPr/>
          </a:p>
        </p:txBody>
      </p:sp>
      <p:pic>
        <p:nvPicPr>
          <p:cNvPr descr="A blue and purple geometrical design&#10;&#10;AI-generated content may be incorrect." id="337" name="Google Shape;3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1401" y="1396869"/>
            <a:ext cx="4343400" cy="426667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7"/>
          <p:cNvSpPr txBox="1"/>
          <p:nvPr/>
        </p:nvSpPr>
        <p:spPr>
          <a:xfrm>
            <a:off x="949542" y="5984200"/>
            <a:ext cx="9607117" cy="187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ECHOSCAPE</a:t>
            </a:r>
            <a:endParaRPr/>
          </a:p>
        </p:txBody>
      </p:sp>
      <p:sp>
        <p:nvSpPr>
          <p:cNvPr id="339" name="Google Shape;339;p17"/>
          <p:cNvSpPr txBox="1"/>
          <p:nvPr/>
        </p:nvSpPr>
        <p:spPr>
          <a:xfrm>
            <a:off x="2623685" y="7861637"/>
            <a:ext cx="62588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727E8B"/>
                </a:solidFill>
                <a:latin typeface="Arial"/>
                <a:ea typeface="Arial"/>
                <a:cs typeface="Arial"/>
                <a:sym typeface="Arial"/>
              </a:rPr>
              <a:t>Create Your Calm</a:t>
            </a:r>
            <a:endParaRPr/>
          </a:p>
        </p:txBody>
      </p:sp>
      <p:pic>
        <p:nvPicPr>
          <p:cNvPr descr="A qr code with a dinosaur&#10;&#10;AI-generated content may be incorrect." id="340" name="Google Shape;3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05522" y="2133721"/>
            <a:ext cx="35814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"/>
          <p:cNvSpPr txBox="1"/>
          <p:nvPr/>
        </p:nvSpPr>
        <p:spPr>
          <a:xfrm>
            <a:off x="1166403" y="952500"/>
            <a:ext cx="16283397" cy="1030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b="1" i="1" sz="6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18"/>
          <p:cNvCxnSpPr/>
          <p:nvPr/>
        </p:nvCxnSpPr>
        <p:spPr>
          <a:xfrm>
            <a:off x="1157702" y="2171700"/>
            <a:ext cx="4267200" cy="0"/>
          </a:xfrm>
          <a:prstGeom prst="straightConnector1">
            <a:avLst/>
          </a:prstGeom>
          <a:noFill/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" name="Google Shape;347;p18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BDAAFC">
              <a:alpha val="58039"/>
            </a:srgbClr>
          </a:solidFill>
          <a:ln cap="flat" cmpd="sng" w="19050">
            <a:solidFill>
              <a:srgbClr val="9E85E3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0" y="10149840"/>
            <a:ext cx="18288000" cy="137160"/>
          </a:xfrm>
          <a:prstGeom prst="rect">
            <a:avLst/>
          </a:prstGeom>
          <a:solidFill>
            <a:srgbClr val="7ECBDB"/>
          </a:solidFill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and purple geometrical design&#10;&#10;AI-generated content may be incorrect." id="349" name="Google Shape;3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3100" y="9029700"/>
            <a:ext cx="1028700" cy="1010529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8"/>
          <p:cNvSpPr/>
          <p:nvPr/>
        </p:nvSpPr>
        <p:spPr>
          <a:xfrm>
            <a:off x="1157702" y="3405814"/>
            <a:ext cx="3749040" cy="2985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D6D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9BD6D8"/>
                </a:solidFill>
                <a:latin typeface="Arial"/>
                <a:ea typeface="Arial"/>
                <a:cs typeface="Arial"/>
                <a:sym typeface="Arial"/>
              </a:rPr>
              <a:t>Month 3</a:t>
            </a:r>
            <a:endParaRPr b="0" i="0" sz="3200" u="none" cap="none" strike="noStrike">
              <a:solidFill>
                <a:srgbClr val="9BD6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1157702" y="3851208"/>
            <a:ext cx="7071898" cy="517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Steam Early Access and Next Fest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8182559" y="3404710"/>
            <a:ext cx="2399948" cy="962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D6D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9BD6D8"/>
                </a:solidFill>
                <a:latin typeface="Arial"/>
                <a:ea typeface="Arial"/>
                <a:cs typeface="Arial"/>
                <a:sym typeface="Arial"/>
              </a:rPr>
              <a:t>1,000 users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D6D8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9BD6D8"/>
                </a:solidFill>
                <a:latin typeface="Arial"/>
                <a:ea typeface="Arial"/>
                <a:cs typeface="Arial"/>
                <a:sym typeface="Arial"/>
              </a:rPr>
              <a:t>$5K MRR</a:t>
            </a:r>
            <a:endParaRPr/>
          </a:p>
        </p:txBody>
      </p:sp>
      <p:sp>
        <p:nvSpPr>
          <p:cNvPr id="353" name="Google Shape;353;p18"/>
          <p:cNvSpPr/>
          <p:nvPr/>
        </p:nvSpPr>
        <p:spPr>
          <a:xfrm>
            <a:off x="1157702" y="4750572"/>
            <a:ext cx="2758440" cy="2985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D6D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9BD6D8"/>
                </a:solidFill>
                <a:latin typeface="Arial"/>
                <a:ea typeface="Arial"/>
                <a:cs typeface="Arial"/>
                <a:sym typeface="Arial"/>
              </a:rPr>
              <a:t>Month 6</a:t>
            </a:r>
            <a:endParaRPr b="0" i="0" sz="3200" u="none" cap="none" strike="noStrike">
              <a:solidFill>
                <a:srgbClr val="9BD6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1166403" y="5212639"/>
            <a:ext cx="4892040" cy="44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Full Steam launch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7747867" y="4750572"/>
            <a:ext cx="2834640" cy="96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D6D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9BD6D8"/>
                </a:solidFill>
                <a:latin typeface="Arial"/>
                <a:ea typeface="Arial"/>
                <a:cs typeface="Arial"/>
                <a:sym typeface="Arial"/>
              </a:rPr>
              <a:t>5,000 users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D6D8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9BD6D8"/>
                </a:solidFill>
                <a:latin typeface="Arial"/>
                <a:ea typeface="Arial"/>
                <a:cs typeface="Arial"/>
                <a:sym typeface="Arial"/>
              </a:rPr>
              <a:t>$25K MRR</a:t>
            </a:r>
            <a:endParaRPr/>
          </a:p>
        </p:txBody>
      </p:sp>
      <p:sp>
        <p:nvSpPr>
          <p:cNvPr id="356" name="Google Shape;356;p18"/>
          <p:cNvSpPr/>
          <p:nvPr/>
        </p:nvSpPr>
        <p:spPr>
          <a:xfrm>
            <a:off x="1157702" y="6000918"/>
            <a:ext cx="3672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88B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9488B8"/>
                </a:solidFill>
                <a:latin typeface="Arial"/>
                <a:ea typeface="Arial"/>
                <a:cs typeface="Arial"/>
                <a:sym typeface="Arial"/>
              </a:rPr>
              <a:t>Month 12</a:t>
            </a:r>
            <a:endParaRPr b="0" i="0" sz="3200" u="none" cap="none" strike="noStrike">
              <a:solidFill>
                <a:srgbClr val="9488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1157702" y="6420535"/>
            <a:ext cx="5486400" cy="470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Mobile expansion begins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7747867" y="5996130"/>
            <a:ext cx="2834640" cy="921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88B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9488B8"/>
                </a:solidFill>
                <a:latin typeface="Arial"/>
                <a:ea typeface="Arial"/>
                <a:cs typeface="Arial"/>
                <a:sym typeface="Arial"/>
              </a:rPr>
              <a:t>10,000 users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88B8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9488B8"/>
                </a:solidFill>
                <a:latin typeface="Arial"/>
                <a:ea typeface="Arial"/>
                <a:cs typeface="Arial"/>
                <a:sym typeface="Arial"/>
              </a:rPr>
              <a:t>$50K MRR</a:t>
            </a:r>
            <a:endParaRPr/>
          </a:p>
        </p:txBody>
      </p:sp>
      <p:sp>
        <p:nvSpPr>
          <p:cNvPr id="359" name="Google Shape;359;p18"/>
          <p:cNvSpPr/>
          <p:nvPr/>
        </p:nvSpPr>
        <p:spPr>
          <a:xfrm>
            <a:off x="1166403" y="7258735"/>
            <a:ext cx="2529840" cy="2985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0AC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990AC"/>
                </a:solidFill>
                <a:latin typeface="Arial"/>
                <a:ea typeface="Arial"/>
                <a:cs typeface="Arial"/>
                <a:sym typeface="Arial"/>
              </a:rPr>
              <a:t>Year 2</a:t>
            </a:r>
            <a:endParaRPr b="0" i="0" sz="3200" u="none" cap="none" strike="noStrike">
              <a:solidFill>
                <a:srgbClr val="F990A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1157702" y="7715935"/>
            <a:ext cx="5920197" cy="51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B2B </a:t>
            </a:r>
            <a:r>
              <a:rPr b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corporate </a:t>
            </a: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wellness pilots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7747867" y="7258735"/>
            <a:ext cx="2834640" cy="921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90AC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990AC"/>
                </a:solidFill>
                <a:latin typeface="Arial"/>
                <a:ea typeface="Arial"/>
                <a:cs typeface="Arial"/>
                <a:sym typeface="Arial"/>
              </a:rPr>
              <a:t>50,000 users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990AC"/>
                </a:solidFill>
                <a:latin typeface="Arial"/>
                <a:ea typeface="Arial"/>
                <a:cs typeface="Arial"/>
                <a:sym typeface="Arial"/>
              </a:rPr>
              <a:t>$5M+ ARR</a:t>
            </a:r>
            <a:endParaRPr sz="3200">
              <a:solidFill>
                <a:srgbClr val="F990A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5532958" y="2476500"/>
            <a:ext cx="7550285" cy="5798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D6D8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9BD6D8"/>
                </a:solidFill>
                <a:latin typeface="Arial"/>
                <a:ea typeface="Arial"/>
                <a:cs typeface="Arial"/>
                <a:sym typeface="Arial"/>
              </a:rPr>
              <a:t>USER ACQUISITION TIMELINE</a:t>
            </a:r>
            <a:endParaRPr b="0" i="0" sz="4000" u="none" cap="none" strike="noStrike">
              <a:solidFill>
                <a:srgbClr val="9BD6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8"/>
          <p:cNvSpPr txBox="1"/>
          <p:nvPr/>
        </p:nvSpPr>
        <p:spPr>
          <a:xfrm>
            <a:off x="10374454" y="5010348"/>
            <a:ext cx="812999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LTV (Lifetime Value): </a:t>
            </a:r>
            <a:r>
              <a:rPr b="1" i="0" lang="en-US" sz="3200" u="none" cap="none" strike="noStrike">
                <a:solidFill>
                  <a:srgbClr val="9BD6D8"/>
                </a:solidFill>
                <a:latin typeface="Arial"/>
                <a:ea typeface="Arial"/>
                <a:cs typeface="Arial"/>
                <a:sym typeface="Arial"/>
              </a:rPr>
              <a:t>$180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CAC (Customer Acquistion Cost): </a:t>
            </a:r>
            <a:r>
              <a:rPr b="1" i="0" lang="en-US" sz="3200" u="none" cap="none" strike="noStrike">
                <a:solidFill>
                  <a:srgbClr val="9488B8"/>
                </a:solidFill>
                <a:latin typeface="Arial"/>
                <a:ea typeface="Arial"/>
                <a:cs typeface="Arial"/>
                <a:sym typeface="Arial"/>
              </a:rPr>
              <a:t>$6 </a:t>
            </a:r>
            <a:r>
              <a:rPr b="0" i="0" lang="en-US" sz="3200" u="none" cap="none" strike="noStrike">
                <a:solidFill>
                  <a:srgbClr val="9488B8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LTV:CAC = </a:t>
            </a:r>
            <a:r>
              <a:rPr b="1" i="0" lang="en-US" sz="3200" u="none" cap="none" strike="noStrike">
                <a:solidFill>
                  <a:srgbClr val="F990AC"/>
                </a:solidFill>
                <a:latin typeface="Arial"/>
                <a:ea typeface="Arial"/>
                <a:cs typeface="Arial"/>
                <a:sym typeface="Arial"/>
              </a:rPr>
              <a:t>30:1</a:t>
            </a:r>
            <a:r>
              <a:rPr b="1" i="0" lang="en-US" sz="3200" u="none" cap="none" strike="noStrike">
                <a:solidFill>
                  <a:srgbClr val="FF006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8"/>
          <p:cNvSpPr txBox="1"/>
          <p:nvPr/>
        </p:nvSpPr>
        <p:spPr>
          <a:xfrm>
            <a:off x="1916700" y="8724900"/>
            <a:ext cx="14782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Each phase expands the addressable audience while building on proven traction. </a:t>
            </a:r>
            <a:r>
              <a:rPr b="1" i="0" lang="en-US" sz="3200" u="none" cap="none" strike="noStrike">
                <a:solidFill>
                  <a:srgbClr val="9BD6D8"/>
                </a:solidFill>
                <a:latin typeface="Arial"/>
                <a:ea typeface="Arial"/>
                <a:cs typeface="Arial"/>
                <a:sym typeface="Arial"/>
              </a:rPr>
              <a:t>Year 1 validates. Year 2 scales. Year 3 compounds.</a:t>
            </a:r>
            <a:endParaRPr b="0" i="0" sz="3200" u="none" cap="none" strike="noStrike">
              <a:solidFill>
                <a:srgbClr val="9BD6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9"/>
          <p:cNvSpPr txBox="1"/>
          <p:nvPr/>
        </p:nvSpPr>
        <p:spPr>
          <a:xfrm>
            <a:off x="1166403" y="952500"/>
            <a:ext cx="16283397" cy="1030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b="1" i="1" sz="6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19"/>
          <p:cNvCxnSpPr/>
          <p:nvPr/>
        </p:nvCxnSpPr>
        <p:spPr>
          <a:xfrm>
            <a:off x="1157702" y="2171700"/>
            <a:ext cx="4267200" cy="0"/>
          </a:xfrm>
          <a:prstGeom prst="straightConnector1">
            <a:avLst/>
          </a:prstGeom>
          <a:noFill/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p19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BDAAFC">
              <a:alpha val="58039"/>
            </a:srgbClr>
          </a:solidFill>
          <a:ln cap="flat" cmpd="sng" w="19050">
            <a:solidFill>
              <a:srgbClr val="9E85E3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0" y="10149840"/>
            <a:ext cx="18288000" cy="137160"/>
          </a:xfrm>
          <a:prstGeom prst="rect">
            <a:avLst/>
          </a:prstGeom>
          <a:solidFill>
            <a:srgbClr val="7ECBDB"/>
          </a:solidFill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and purple geometrical design&#10;&#10;AI-generated content may be incorrect." id="373" name="Google Shape;3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3100" y="9029700"/>
            <a:ext cx="1028700" cy="1010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4" name="Google Shape;3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7702" y="3158191"/>
            <a:ext cx="1038499" cy="1038499"/>
          </a:xfrm>
          <a:prstGeom prst="rect">
            <a:avLst/>
          </a:prstGeom>
          <a:noFill/>
          <a:ln cap="flat" cmpd="sng" w="9525">
            <a:solidFill>
              <a:srgbClr val="9BD6D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5" name="Google Shape;375;p19"/>
          <p:cNvSpPr/>
          <p:nvPr/>
        </p:nvSpPr>
        <p:spPr>
          <a:xfrm>
            <a:off x="2605502" y="2628900"/>
            <a:ext cx="11262898" cy="2097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D6D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9BD6D8"/>
                </a:solidFill>
                <a:latin typeface="Arial"/>
                <a:ea typeface="Arial"/>
                <a:cs typeface="Arial"/>
                <a:sym typeface="Arial"/>
              </a:rPr>
              <a:t>Every $1 invested in mental health returns $4 in productivity. </a:t>
            </a:r>
            <a:r>
              <a:rPr b="0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Employers are spending — EchoScape can capture this.</a:t>
            </a:r>
            <a:r>
              <a:rPr b="0" i="0" lang="en-US" sz="3200" u="none" cap="none" strike="noStrike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1" lang="en-US" sz="3200" u="none" cap="none" strike="noStrike">
                <a:solidFill>
                  <a:srgbClr val="6B7A90"/>
                </a:solidFill>
                <a:latin typeface="Arial"/>
                <a:ea typeface="Arial"/>
                <a:cs typeface="Arial"/>
                <a:sym typeface="Arial"/>
              </a:rPr>
              <a:t>(WHO / Harvard Business School)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6" name="Google Shape;37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7701" y="4793975"/>
            <a:ext cx="1038499" cy="1038499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9"/>
          <p:cNvSpPr/>
          <p:nvPr/>
        </p:nvSpPr>
        <p:spPr>
          <a:xfrm>
            <a:off x="2605502" y="4756317"/>
            <a:ext cx="10119898" cy="1113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D6D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9BD6D8"/>
                </a:solidFill>
                <a:latin typeface="Arial"/>
                <a:ea typeface="Arial"/>
                <a:cs typeface="Arial"/>
                <a:sym typeface="Arial"/>
              </a:rPr>
              <a:t>Non-invasive. Zero side effects. </a:t>
            </a:r>
            <a:r>
              <a:rPr b="0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science is clear: meditation should be the first line of defense.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1409933" y="6424144"/>
            <a:ext cx="274320" cy="274320"/>
          </a:xfrm>
          <a:prstGeom prst="ellipse">
            <a:avLst/>
          </a:prstGeom>
          <a:solidFill>
            <a:srgbClr val="9BD6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1821413" y="6262824"/>
            <a:ext cx="10439400" cy="587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Sound immersion activates the parasympathetic response</a:t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1407554" y="7390101"/>
            <a:ext cx="279078" cy="279078"/>
          </a:xfrm>
          <a:prstGeom prst="ellipse">
            <a:avLst/>
          </a:prstGeom>
          <a:solidFill>
            <a:srgbClr val="9488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1821413" y="7254963"/>
            <a:ext cx="9296400" cy="549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Swelling soundscapes regulate heart rate variability</a:t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1821413" y="8169363"/>
            <a:ext cx="13258800" cy="549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Vibroacoustic stimulation induces deeper relaxation than meditation alone</a:t>
            </a:r>
            <a:endParaRPr b="0" i="0" sz="3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1405176" y="8311654"/>
            <a:ext cx="274320" cy="274320"/>
          </a:xfrm>
          <a:prstGeom prst="ellipse">
            <a:avLst/>
          </a:prstGeom>
          <a:solidFill>
            <a:srgbClr val="F990AC"/>
          </a:solidFill>
          <a:ln cap="flat" cmpd="sng" w="9525">
            <a:solidFill>
              <a:srgbClr val="F990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0"/>
          <p:cNvSpPr txBox="1"/>
          <p:nvPr/>
        </p:nvSpPr>
        <p:spPr>
          <a:xfrm>
            <a:off x="1166403" y="952500"/>
            <a:ext cx="16283397" cy="1030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b="1" i="1" sz="6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p20"/>
          <p:cNvCxnSpPr/>
          <p:nvPr/>
        </p:nvCxnSpPr>
        <p:spPr>
          <a:xfrm>
            <a:off x="1157702" y="2171700"/>
            <a:ext cx="4267200" cy="0"/>
          </a:xfrm>
          <a:prstGeom prst="straightConnector1">
            <a:avLst/>
          </a:prstGeom>
          <a:noFill/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p20"/>
          <p:cNvSpPr/>
          <p:nvPr/>
        </p:nvSpPr>
        <p:spPr>
          <a:xfrm>
            <a:off x="0" y="0"/>
            <a:ext cx="137160" cy="10287000"/>
          </a:xfrm>
          <a:prstGeom prst="rect">
            <a:avLst/>
          </a:prstGeom>
          <a:solidFill>
            <a:srgbClr val="BDAAFC">
              <a:alpha val="58039"/>
            </a:srgbClr>
          </a:solidFill>
          <a:ln cap="flat" cmpd="sng" w="19050">
            <a:solidFill>
              <a:srgbClr val="9E85E3">
                <a:alpha val="5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0" y="10149840"/>
            <a:ext cx="18288000" cy="137160"/>
          </a:xfrm>
          <a:prstGeom prst="rect">
            <a:avLst/>
          </a:prstGeom>
          <a:solidFill>
            <a:srgbClr val="7ECBDB"/>
          </a:solidFill>
          <a:ln cap="flat" cmpd="sng" w="19050">
            <a:solidFill>
              <a:srgbClr val="7ECB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and purple geometrical design&#10;&#10;AI-generated content may be incorrect." id="392" name="Google Shape;3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3100" y="9029700"/>
            <a:ext cx="1028700" cy="1010529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0"/>
          <p:cNvSpPr txBox="1"/>
          <p:nvPr/>
        </p:nvSpPr>
        <p:spPr>
          <a:xfrm>
            <a:off x="1157702" y="3086100"/>
            <a:ext cx="15405576" cy="5539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https://www.sciencedirect.com/science/article/pii/S016503272300530X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Jonathon Haidt “The Anxious Generation”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https://www.paho.org/sites/default/files/2025-04/7-irarrazaval-march-25-session-2.pdf?utm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https://www.gallup.com/workplace/288539/employee-burnout-biggest-myth.aspx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https://www.health.harvard.edu/mind-and-mood/mindfulness-meditation-practice-changes-the-brain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https://pmc.ncbi.nlm.nih.gov/articles/PMC11217305/#:~:text=Changes%20in%20prevalence%20of%20meditation,(+%200.27%25;%20Table%20S3).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https://www.psychiatrist.com/news/worlds-most-relaxing-song-may-reduce-anxiety-by-65/#:~:text=A%20Scientific%20Marvel?,But%20likely%20inaccurate.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https://pmc.ncbi.nlm.nih.gov/articles/PMC10800705/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https://www.fortunebusinessinsights.com/fidget-toy-market-110591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https://www.sciencedirect.com/science/article/pii/S2405844023041014?utm_source=chatgpt.com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