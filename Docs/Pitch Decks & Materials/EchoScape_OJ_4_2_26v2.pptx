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90AC"/>
    <a:srgbClr val="9BD6D8"/>
    <a:srgbClr val="FC6CA9"/>
    <a:srgbClr val="948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8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16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microsoft.com/office/2007/relationships/hdphoto" Target="../media/hdphoto9.wdp"/><Relationship Id="rId4" Type="http://schemas.microsoft.com/office/2007/relationships/hdphoto" Target="../media/hdphoto6.wdp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microsoft.com/office/2007/relationships/hdphoto" Target="../media/hdphoto1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3.png"/><Relationship Id="rId5" Type="http://schemas.openxmlformats.org/officeDocument/2006/relationships/image" Target="../media/image16.png"/><Relationship Id="rId10" Type="http://schemas.microsoft.com/office/2007/relationships/hdphoto" Target="../media/hdphoto12.wdp"/><Relationship Id="rId4" Type="http://schemas.microsoft.com/office/2007/relationships/hdphoto" Target="../media/hdphoto10.wdp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4.wdp"/><Relationship Id="rId11" Type="http://schemas.openxmlformats.org/officeDocument/2006/relationships/image" Target="../media/image3.png"/><Relationship Id="rId5" Type="http://schemas.openxmlformats.org/officeDocument/2006/relationships/image" Target="../media/image21.png"/><Relationship Id="rId10" Type="http://schemas.microsoft.com/office/2007/relationships/hdphoto" Target="../media/hdphoto16.wdp"/><Relationship Id="rId4" Type="http://schemas.microsoft.com/office/2007/relationships/hdphoto" Target="../media/hdphoto13.wdp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6.png"/><Relationship Id="rId7" Type="http://schemas.microsoft.com/office/2007/relationships/hdphoto" Target="../media/hdphoto18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microsoft.com/office/2007/relationships/hdphoto" Target="../media/hdphoto17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1.wdp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0.wdp"/><Relationship Id="rId5" Type="http://schemas.openxmlformats.org/officeDocument/2006/relationships/image" Target="../media/image29.png"/><Relationship Id="rId4" Type="http://schemas.microsoft.com/office/2007/relationships/hdphoto" Target="../media/hdphoto19.wdp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24.wdp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3.wdp"/><Relationship Id="rId11" Type="http://schemas.openxmlformats.org/officeDocument/2006/relationships/image" Target="../media/image3.png"/><Relationship Id="rId5" Type="http://schemas.openxmlformats.org/officeDocument/2006/relationships/image" Target="../media/image32.png"/><Relationship Id="rId10" Type="http://schemas.microsoft.com/office/2007/relationships/hdphoto" Target="../media/hdphoto25.wdp"/><Relationship Id="rId4" Type="http://schemas.microsoft.com/office/2007/relationships/hdphoto" Target="../media/hdphoto22.wdp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ORIZ_Lock_U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11" y="281354"/>
            <a:ext cx="7533379" cy="42046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5985" y="2843395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8899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Your Calm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Anxiety is an </a:t>
            </a:r>
            <a:r>
              <a:rPr kumimoji="0" lang="en-US" sz="34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Epidemic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905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40M+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377440" y="1051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Americans have 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anxiety disorder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NIMH / ADAA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905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43%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1051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of adults feel more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anxious than last year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2039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APA Annual Poll, 2024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905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3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77440" y="2697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adults will experience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anxiety in their lifetime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6850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NIMH, NCS-R Study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905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60%+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75120" y="2697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of Gen Z report 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anxiety disorder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36850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Hill, 2023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008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" y="423867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51560" y="4186305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200% increase in anxiety since 2008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(NIH/PMC, 2020)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51560" y="4651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People shut down. Relationships degrade.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This generation is the most anxious in history.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8B23A836-8258-8115-6E7D-1BA4F5CF7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Cost of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Anxiety at Work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141C2E"/>
          </a:solidFill>
          <a:ln w="1524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$282B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1463040"/>
            <a:ext cx="228600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ext 3"/>
          <p:cNvSpPr/>
          <p:nvPr/>
        </p:nvSpPr>
        <p:spPr>
          <a:xfrm>
            <a:off x="914400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Columbia / Yale, 2024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2560320" y="9144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annual cost of mental illness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the U.S. — 1.7% of GDP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141C2E"/>
          </a:solidFill>
          <a:ln w="1524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Bn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25603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560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60320" y="20116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working days lost globally to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anxiety &amp; depression each year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141C2E"/>
          </a:solidFill>
          <a:ln w="1524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4008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36576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Gallup, 2022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560320" y="3108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of employees report burnout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&amp; are 63% more likely to call in sick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760720" y="868680"/>
            <a:ext cx="29260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4537710"/>
            <a:ext cx="320040" cy="320040"/>
          </a:xfrm>
          <a:prstGeom prst="rect">
            <a:avLst/>
          </a:prstGeom>
          <a:ln>
            <a:solidFill>
              <a:srgbClr val="9BD6D8"/>
            </a:solidFill>
          </a:ln>
        </p:spPr>
      </p:pic>
      <p:sp>
        <p:nvSpPr>
          <p:cNvPr id="22" name="Text 16"/>
          <p:cNvSpPr/>
          <p:nvPr/>
        </p:nvSpPr>
        <p:spPr>
          <a:xfrm>
            <a:off x="914400" y="4251960"/>
            <a:ext cx="7772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Every $1 invested in mental health returns $4 in productivity.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Employers are spending — EchoScape can capture this. 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(WHO / Harvard Business School)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B1B587D3-F33B-03C9-AF8A-4835EBA66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75DDC7-7062-5EA2-F115-17EADCD8A2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9854" y="795664"/>
            <a:ext cx="2626946" cy="3265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Meditation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Clinically proven to reshape the brain, lower stress hormones, and improve outcomes.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0" y="182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41C2E"/>
          </a:solidFill>
          <a:ln w="1524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7340" y="2331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cortisol reduction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Reshapes the brain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just 8 weeks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Harvard Medical School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91840" y="21945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41C2E"/>
          </a:solidFill>
          <a:ln w="1524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11980" y="2331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90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attention span increase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4290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Sustained focus improvement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after 8-week program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429000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JAMA, 2020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126480" y="21945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41C2E"/>
          </a:solidFill>
          <a:ln w="1524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6620" y="23317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2636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better therapy outcomes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2636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When meditation is combined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with traditional treatment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263640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APA, 2022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160" y="465201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3640" y="4434840"/>
            <a:ext cx="7772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Non-invasive. Zero side effects.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science is clear: meditation should be the first line of defense.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551853E9-6656-81A7-D96E-9AE0C4391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8A090A3-9697-4283-08C5-C2092FD7DE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64738" y="123498"/>
            <a:ext cx="2672569" cy="18424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 20%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Meditate 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Regularly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41C2E"/>
          </a:solidFill>
          <a:ln w="1524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of meditation app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users quit within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Psychology Today / Carnegie Mellon, 2025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41C2E"/>
          </a:solidFill>
          <a:ln w="1524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0312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median Day 30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retention for mental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health apps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Baumel et al., JMIR, 2019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 Research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06240" y="12161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"My mind wanders too much"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06240" y="1399032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06240" y="1399032"/>
            <a:ext cx="2154326" cy="347472"/>
          </a:xfrm>
          <a:prstGeom prst="roundRect">
            <a:avLst>
              <a:gd name="adj" fmla="val 13158"/>
            </a:avLst>
          </a:prstGeom>
          <a:solidFill>
            <a:srgbClr val="9BD6D8"/>
          </a:solidFill>
          <a:ln>
            <a:solidFill>
              <a:srgbClr val="9BD6D8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52006" y="13990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06240" y="17465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"Not enough time"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06240" y="1929384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06240" y="1929384"/>
            <a:ext cx="1945843" cy="347472"/>
          </a:xfrm>
          <a:prstGeom prst="roundRect">
            <a:avLst>
              <a:gd name="adj" fmla="val 13158"/>
            </a:avLst>
          </a:prstGeom>
          <a:solidFill>
            <a:srgbClr val="9BD6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43523" y="19293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06240" y="22768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"I need to move"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06240" y="2459736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06240" y="2459736"/>
            <a:ext cx="1598371" cy="347472"/>
          </a:xfrm>
          <a:prstGeom prst="roundRect">
            <a:avLst>
              <a:gd name="adj" fmla="val 13158"/>
            </a:avLst>
          </a:prstGeom>
          <a:solidFill>
            <a:srgbClr val="9488B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96051" y="24597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206240" y="2807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"It feels like a chore"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06240" y="2990088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06240" y="2990088"/>
            <a:ext cx="1424635" cy="347472"/>
          </a:xfrm>
          <a:prstGeom prst="roundRect">
            <a:avLst>
              <a:gd name="adj" fmla="val 13158"/>
            </a:avLst>
          </a:prstGeom>
          <a:solidFill>
            <a:srgbClr val="9488B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22315" y="29900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6769" y="4160520"/>
            <a:ext cx="82296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core issue is consistency.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biggest predictor?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calm people feel during the experience.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If it feels frustrating, they quit. If it feels calming, they come back.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A49639C9-E55F-E30A-4AD3-608CEBEB1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A computer and headphones with a screen on it&#10;&#10;AI-generated content may be incorrect.">
            <a:extLst>
              <a:ext uri="{FF2B5EF4-FFF2-40B4-BE49-F238E27FC236}">
                <a16:creationId xmlns:a16="http://schemas.microsoft.com/office/drawing/2014/main" id="{9CDB735D-9299-9D4B-18D1-54DA2ED40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961"/>
            <a:ext cx="9143980" cy="514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C5C2EDC2-5D24-2FE9-1280-568BB6E2E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77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Healing is 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Neuroscience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141C2E"/>
          </a:solidFill>
          <a:ln w="1524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72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Immersion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Activates parasympathetic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nervous system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1604772"/>
            <a:ext cx="228600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606040" y="86868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141C2E"/>
          </a:solidFill>
          <a:ln w="1524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37560" y="10058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974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Responds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69748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Lowers cortisol, regulates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heart rate variability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604772"/>
            <a:ext cx="228600" cy="228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754880" y="86868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141C2E"/>
          </a:solidFill>
          <a:ln w="1524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100584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463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Calmness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Increases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84632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65% improvement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reported calmness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604772"/>
            <a:ext cx="228600" cy="2286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903720" y="86868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141C2E"/>
          </a:solidFill>
          <a:ln w="1524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35240" y="100584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951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Follows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699516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Calm experience = people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come back again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548640" y="2944368"/>
            <a:ext cx="137160" cy="137160"/>
          </a:xfrm>
          <a:prstGeom prst="ellipse">
            <a:avLst/>
          </a:prstGeom>
          <a:solidFill>
            <a:srgbClr val="9BD6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82296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Sound immersion activates the parasympathetic response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Music &amp; Medicine Journal, 2019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548640" y="3383280"/>
            <a:ext cx="137160" cy="137160"/>
          </a:xfrm>
          <a:prstGeom prst="ellipse">
            <a:avLst/>
          </a:prstGeom>
          <a:solidFill>
            <a:srgbClr val="9488B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822960" y="3273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Swelling soundscapes regulate heart rate variability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594360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Journal of Music Therapy, 2020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548640" y="3822192"/>
            <a:ext cx="137160" cy="137160"/>
          </a:xfrm>
          <a:prstGeom prst="ellipse">
            <a:avLst/>
          </a:prstGeom>
          <a:solidFill>
            <a:srgbClr val="F990AC"/>
          </a:solidFill>
          <a:ln>
            <a:solidFill>
              <a:srgbClr val="F990AC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822960" y="3712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Vibroacoustic stimulation induces deeper relaxation than meditation alone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5943600" y="3712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Frontiers in Network Physiology,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539263" y="4251960"/>
            <a:ext cx="76708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With EchoScape, sound doesn't just play —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it responds to you.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Interactive sound is the key to sustained calm.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BA3C224C-DB10-2F6A-2D7D-10A5B8D31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Controller 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Drives Calmness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41C2E"/>
          </a:solidFill>
          <a:ln w="1524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10972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896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Movement meditation = sitting meditation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97280" y="1188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RCT with 161 participants found no difference in effectiveness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1417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Mindfulness Journal, 2023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41C2E"/>
          </a:solidFill>
          <a:ln w="1524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2103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Fidget devices reduce anxiety &amp; stress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97280" y="2194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Physical input boosts dopamine in the same pathways as ADHD meds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097280" y="24231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ScienceDirect, 2025 / Harvard Medical School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41C2E"/>
          </a:solidFill>
          <a:ln w="1524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31089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907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Stillness can actually worsen ADHD symptoms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097280" y="3200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Traditional meditation draws attention to inattention, undermining benefits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97280" y="34290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Frontiers in Psychology, 2021 (Murrell et al.)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760720" y="82296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446913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4160520"/>
            <a:ext cx="768096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Instead of fighting a wandering mind,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EchoScape guides it.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controller gives anxious brains exactly what they need: something gentle to focus on.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42FF2A1F-61DD-817F-2C9B-8BB6B3B7E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F652379-DB24-AFFB-0B2F-3ED0483C46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0720" y="737284"/>
            <a:ext cx="3103196" cy="3103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ive_demo_nav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of EchoScape users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felt more calm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40 Participants  |  Ages 18-35  |  2 Week Beta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41C2E"/>
          </a:solidFill>
          <a:ln w="1524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Restlessness Score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A4A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3774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43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before                          after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91840" y="19659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41C2E"/>
          </a:solidFill>
          <a:ln w="1524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34840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313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 min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291840" y="2715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average session length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Time is not a barrier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26480" y="19659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41C2E"/>
          </a:solidFill>
          <a:ln w="15240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12648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1264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Maintained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26480" y="2715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Most participants reported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their mind stayed focused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"Calming yet stimulating!"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29184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"It didn't feel like meditation.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It felt like a game I wanted to play."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12648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"My anxiety dropped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an 8 to a 3."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451485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" y="4206240"/>
            <a:ext cx="77724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Next step: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formal neuroscience study with Mount Sinai researchers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 clinically validate EchoScape's anxiety reduction.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FB324343-4BD6-6A7B-8555-F0CBD442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9" y="137160"/>
            <a:ext cx="8979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 EchoScape Lets You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Your Calm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46120" y="6583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EchoScape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46120" y="841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motion + sound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583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63440" y="841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Passive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meditation app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80760" y="6583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Playne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80760" y="841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Passive meditation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video game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0" y="6583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Tripp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0" y="841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VR soundscape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27832" y="1124712"/>
            <a:ext cx="1362456" cy="2688336"/>
          </a:xfrm>
          <a:prstGeom prst="rect">
            <a:avLst/>
          </a:prstGeom>
          <a:solidFill>
            <a:srgbClr val="9BD6D8"/>
          </a:solidFill>
          <a:ln w="2540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274320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11430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Interactive Sound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46120" y="1143000"/>
            <a:ext cx="1325880" cy="530352"/>
          </a:xfrm>
          <a:prstGeom prst="rect">
            <a:avLst/>
          </a:prstGeom>
          <a:solidFill>
            <a:srgbClr val="9BD6D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114300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114300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98080" y="1143000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8080" y="114300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1673352"/>
            <a:ext cx="2743200" cy="530352"/>
          </a:xfrm>
          <a:prstGeom prst="rect">
            <a:avLst/>
          </a:prstGeom>
          <a:solidFill>
            <a:srgbClr val="1119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4360" y="16733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Controller / Motion Input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46120" y="1673352"/>
            <a:ext cx="1325880" cy="530352"/>
          </a:xfrm>
          <a:prstGeom prst="rect">
            <a:avLst/>
          </a:prstGeom>
          <a:solidFill>
            <a:srgbClr val="9BD6D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1673352"/>
            <a:ext cx="1325880" cy="530352"/>
          </a:xfrm>
          <a:prstGeom prst="rect">
            <a:avLst/>
          </a:prstGeom>
          <a:solidFill>
            <a:srgbClr val="1119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63440" y="16733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80760" y="1673352"/>
            <a:ext cx="1325880" cy="530352"/>
          </a:xfrm>
          <a:prstGeom prst="rect">
            <a:avLst/>
          </a:prstGeom>
          <a:solidFill>
            <a:srgbClr val="1119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80760" y="1673352"/>
            <a:ext cx="1325880" cy="530352"/>
          </a:xfrm>
          <a:prstGeom prst="rect">
            <a:avLst/>
          </a:prstGeom>
          <a:solidFill>
            <a:srgbClr val="9BD6D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0" y="1673352"/>
            <a:ext cx="1325880" cy="530352"/>
          </a:xfrm>
          <a:prstGeom prst="rect">
            <a:avLst/>
          </a:prstGeom>
          <a:solidFill>
            <a:srgbClr val="9BD6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16733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203704"/>
            <a:ext cx="274320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" y="22037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Multi-sensory (Audio + Haptic)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46120" y="220370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63440" y="2203704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63440" y="220370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80760" y="2203704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080760" y="220370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0" y="2203704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98080" y="2203704"/>
            <a:ext cx="1325880" cy="530352"/>
          </a:xfrm>
          <a:prstGeom prst="rect">
            <a:avLst/>
          </a:prstGeom>
          <a:solidFill>
            <a:srgbClr val="9BD6D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2734056"/>
            <a:ext cx="2743200" cy="530352"/>
          </a:xfrm>
          <a:prstGeom prst="rect">
            <a:avLst/>
          </a:prstGeom>
          <a:solidFill>
            <a:srgbClr val="1119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4360" y="27340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Personalized Journey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46120" y="273405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63440" y="2734056"/>
            <a:ext cx="1325880" cy="530352"/>
          </a:xfrm>
          <a:prstGeom prst="rect">
            <a:avLst/>
          </a:prstGeom>
          <a:solidFill>
            <a:srgbClr val="1119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63440" y="2734056"/>
            <a:ext cx="1325880" cy="530352"/>
          </a:xfrm>
          <a:prstGeom prst="rect">
            <a:avLst/>
          </a:prstGeom>
          <a:solidFill>
            <a:srgbClr val="9BD6D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080760" y="2734056"/>
            <a:ext cx="1325880" cy="530352"/>
          </a:xfrm>
          <a:prstGeom prst="rect">
            <a:avLst/>
          </a:prstGeom>
          <a:solidFill>
            <a:srgbClr val="1119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080760" y="2734056"/>
            <a:ext cx="1325880" cy="530352"/>
          </a:xfrm>
          <a:prstGeom prst="rect">
            <a:avLst/>
          </a:prstGeom>
          <a:solidFill>
            <a:srgbClr val="9BD6D8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498080" y="2734056"/>
            <a:ext cx="1325880" cy="530352"/>
          </a:xfrm>
          <a:prstGeom prst="rect">
            <a:avLst/>
          </a:prstGeom>
          <a:solidFill>
            <a:srgbClr val="1119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498080" y="273405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57200" y="3264408"/>
            <a:ext cx="274320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32644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User Creates the Experience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246120" y="326440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663440" y="3264408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663440" y="326440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080760" y="3264408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080760" y="326440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498080" y="3264408"/>
            <a:ext cx="1325880" cy="530352"/>
          </a:xfrm>
          <a:prstGeom prst="rect">
            <a:avLst/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498080" y="326440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75846" y="4206240"/>
            <a:ext cx="7788031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 competitor combines meditative motion with interactive sound.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EchoScape occupies a category of one.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A6F0D92A-B1D4-1FA9-5574-4975F1358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67M Anxious Gamers.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Built This for Them.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0D9FF">
              <a:alpha val="20000"/>
            </a:srgbClr>
          </a:solidFill>
          <a:ln w="1905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9D4EDD">
              <a:alpha val="20000"/>
            </a:srgbClr>
          </a:solidFill>
          <a:ln w="1905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$850M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006E">
              <a:alpha val="20000"/>
            </a:srgbClr>
          </a:solidFill>
          <a:ln w="1905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08960" y="731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0896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U.S. meditation &amp; mindfulness app market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08960" y="1188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Statista / Grand View Research, 2024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08960" y="1691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Serviceable Available Market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0896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Gaming + wellness intersection (82M gamers 18-35)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08960" y="21488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ESA, 2025 / ScienceDirect, 2024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08960" y="2651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08960" y="2880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Gamers aged 18-35 with anxiety/ADHD (3-year target)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08960" y="3108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150K-500K users, $5M-$20M ARR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141C2E"/>
          </a:solidFill>
          <a:ln w="1270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1 (Year 1)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959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Gamers with anxiety/ADHD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46120" y="370332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141C2E"/>
          </a:solidFill>
          <a:ln w="1270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37560" y="3749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2 (Year 2)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37560" y="3959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Lapsed meditators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35040" y="370332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141C2E"/>
          </a:solidFill>
          <a:ln w="1270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26480" y="3749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3 (Year 3)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26480" y="3959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4361688"/>
            <a:ext cx="9144000" cy="781812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7542237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Meditation built for the gaming generation.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Market growing at 18.6% CAGR to $153B by 2034. 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(Towards Healthcare, 2024)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2C02205F-6E8F-30C0-C13B-2CB324913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Model: </a:t>
            </a: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Revenue Streams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141C2E"/>
          </a:solidFill>
          <a:ln w="1524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7340" y="749808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43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Steam Launch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3533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147M active users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$15-20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base game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+$5 quarterly expansions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PC and Mac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Built-in discovery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46120" y="6400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141C2E"/>
          </a:solidFill>
          <a:ln w="1524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66260" y="7498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143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Mobile Scale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337560" y="13533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iOS + Android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33756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$4.99/mo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337560" y="1965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or $29.99/year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42900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Free tier: 3 environments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429000" y="2514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Premium: unlimited access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29000" y="27432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10% free-to-paid conversion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035040" y="6400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141C2E"/>
          </a:solidFill>
          <a:ln w="1524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5180" y="74980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1143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B2B Wellness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126480" y="13533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Corporate programs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126480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$5-15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6126480" y="1965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 employee/month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21792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Calm charges $5-15/seat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217920" y="2514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ADHD-specific positioning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217920" y="27432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4,000+ companies in market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457200" y="3291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143000" y="3291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$5K MRR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219456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1,000 users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3246120" y="3291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 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3931920" y="3291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 MRR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498348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10,000 users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035040" y="3291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720840" y="3291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$5M+ ARR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777240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50K-150K users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LTV: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CAC: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LTV:CAC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30:1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6E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 |   Built-in user base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147M Steam gamers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means low acquisition cost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Calm: $596M revenue (2024)  |  Headspace: $348M revenue (2024)  | 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EchoScape enters with zero direct competitors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D81CF73C-77E4-B0E7-D2CF-FA6A50A9A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to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$5M+ ARR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423160"/>
            <a:ext cx="7863840" cy="0"/>
          </a:xfrm>
          <a:prstGeom prst="line">
            <a:avLst/>
          </a:prstGeom>
          <a:noFill/>
          <a:ln w="31750">
            <a:solidFill>
              <a:srgbClr val="2A36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7552" y="2313432"/>
            <a:ext cx="219456" cy="219456"/>
          </a:xfrm>
          <a:prstGeom prst="ellipse">
            <a:avLst/>
          </a:prstGeom>
          <a:solidFill>
            <a:srgbClr val="9BD6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 1-3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Hire engineering team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Full production development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Sound library creation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999232" y="2313432"/>
            <a:ext cx="219456" cy="219456"/>
          </a:xfrm>
          <a:prstGeom prst="ellipse">
            <a:avLst/>
          </a:prstGeom>
          <a:solidFill>
            <a:srgbClr val="9488B8"/>
          </a:solidFill>
          <a:ln>
            <a:solidFill>
              <a:srgbClr val="9488B8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640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 4-6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77440" y="868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86000" y="1188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Steam Early Access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User feedback + iteration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First 1,000 users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6888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$5K MRR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02352" y="2313432"/>
            <a:ext cx="219456" cy="219456"/>
          </a:xfrm>
          <a:prstGeom prst="ellipse">
            <a:avLst/>
          </a:prstGeom>
          <a:solidFill>
            <a:srgbClr val="9BD6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80560" y="640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868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0" y="1188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Full Steam release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Content updates + analytics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Scale to 10K users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 MRR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14032" y="2313432"/>
            <a:ext cx="219456" cy="219456"/>
          </a:xfrm>
          <a:prstGeom prst="ellipse">
            <a:avLst/>
          </a:prstGeom>
          <a:solidFill>
            <a:srgbClr val="F990AC"/>
          </a:solidFill>
          <a:ln>
            <a:solidFill>
              <a:srgbClr val="F990AC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2240" y="640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 2-3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0" y="868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1188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iOS + Android launch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 pilots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B2B enterprise contracts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$5M+ ARR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 w="1270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3017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88720" y="3081528"/>
            <a:ext cx="0" cy="466344"/>
          </a:xfrm>
          <a:prstGeom prst="line">
            <a:avLst/>
          </a:prstGeom>
          <a:noFill/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8016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Gamers with anxiety/ADHD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8016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Core beachhead market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46120" y="297180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 w="1270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37560" y="3017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977640" y="3081528"/>
            <a:ext cx="0" cy="466344"/>
          </a:xfrm>
          <a:prstGeom prst="line">
            <a:avLst/>
          </a:prstGeom>
          <a:noFill/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6908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Lapsed meditators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06908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300M+ app downloads, 95% quit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35040" y="297180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 w="1270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0" y="3017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66560" y="3081528"/>
            <a:ext cx="0" cy="466344"/>
          </a:xfrm>
          <a:prstGeom prst="line">
            <a:avLst/>
          </a:prstGeom>
          <a:noFill/>
          <a:ln w="12700">
            <a:solidFill>
              <a:srgbClr val="2A36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$20-24B market, 91% investing more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Each phase expands the addressable audience while building on proven traction.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 1 validates. Year 2 scales. Year 3 compounds.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150K-500K users  |  $5M-$20M ARR  |  Series A ready by end of Year 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63FA0F75-5211-FFC1-5015-58BA1A148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ECHOSCAPE 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05840" y="914400"/>
            <a:ext cx="1463040" cy="1463040"/>
          </a:xfrm>
          <a:prstGeom prst="ellipse">
            <a:avLst/>
          </a:prstGeom>
          <a:solidFill>
            <a:srgbClr val="0F1520"/>
          </a:solidFill>
          <a:ln w="2540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Mike Ahearn Wilcox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40480" y="914400"/>
            <a:ext cx="1463040" cy="1463040"/>
          </a:xfrm>
          <a:prstGeom prst="ellipse">
            <a:avLst/>
          </a:prstGeom>
          <a:noFill/>
          <a:ln w="2540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0" y="914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A4A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Greg Donovan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75120" y="914400"/>
            <a:ext cx="1463040" cy="1463040"/>
          </a:xfrm>
          <a:prstGeom prst="ellipse">
            <a:avLst/>
          </a:prstGeom>
          <a:solidFill>
            <a:srgbClr val="0F1520"/>
          </a:solidFill>
          <a:ln w="2540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75120" y="914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A4A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Natalia Pollack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Programmer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82296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Small team. Big vision.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Ready to scale with the right investment.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81A910A5-2BFF-264A-AD3D-CEF6DD06F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$250,000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Full Development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$250K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41C2E"/>
          </a:solidFill>
          <a:ln w="1270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 Engineers + 1 Designer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2926080" y="1600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03320" y="16002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350008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41C2E"/>
          </a:solidFill>
          <a:ln w="12700">
            <a:solidFill>
              <a:srgbClr val="948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" y="25328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35000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Sound Library Expansion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926080" y="23500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703320" y="2350008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7200" y="3099816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41C2E"/>
          </a:solidFill>
          <a:ln w="12700">
            <a:solidFill>
              <a:srgbClr val="F990A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" y="32826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0998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Marketing + Press Outreach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926080" y="3099816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703320" y="3099816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57200" y="3849624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41C2E"/>
          </a:solidFill>
          <a:ln w="12700">
            <a:solidFill>
              <a:srgbClr val="9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" y="40325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384962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C0C8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Infrastructure + Scaling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926080" y="384962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3703320" y="384962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480560" y="640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This Delivers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480560" y="109728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461772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61772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Steam Early Access live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040880" y="1097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 users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4480560" y="187452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61772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4617720" y="2194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Full Steam launch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7040880" y="1874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 users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BD6D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4480560" y="265176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46177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 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61772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Mobile expansion begins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704088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488B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 users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488B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4480560" y="34290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4617720" y="34747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461772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B2B wellness pilots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7040880" y="342900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990A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 users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990A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457200" y="4672584"/>
            <a:ext cx="82296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$250K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gets EchoScape to market, to users, and to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Series A readiness within 12 months.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CB82E216-9FDC-EDE4-A302-81E5D261E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568023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ll_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26" y="457200"/>
            <a:ext cx="2839788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09014" y="100584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09014" y="1005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34694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TO JOIN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JOURNEY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5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BD6D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create calm together.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A9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mike@echoscape.app  |  echoscape.app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715AA8DB-E950-B5D1-E203-6964BA1FC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blue and purple geometrical design&#10;&#10;AI-generated content may be incorrect.">
            <a:extLst>
              <a:ext uri="{FF2B5EF4-FFF2-40B4-BE49-F238E27FC236}">
                <a16:creationId xmlns:a16="http://schemas.microsoft.com/office/drawing/2014/main" id="{3C968666-DD0D-959B-6615-8BF0340E1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57" y="4468440"/>
            <a:ext cx="574040" cy="56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1318</Words>
  <Application>Microsoft Macintosh PowerPoint</Application>
  <PresentationFormat>On-screen Show (16:9)</PresentationFormat>
  <Paragraphs>318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Arial Black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EchoScape Pitch Deck - Slide 1</dc:title>
  <dc:subject>PptxGenJS Presentation</dc:subject>
  <dc:creator>EchoScape</dc:creator>
  <cp:lastModifiedBy>Omer Jilani</cp:lastModifiedBy>
  <cp:revision>4</cp:revision>
  <dcterms:created xsi:type="dcterms:W3CDTF">2026-04-03T00:33:49Z</dcterms:created>
  <dcterms:modified xsi:type="dcterms:W3CDTF">2026-04-03T11:22:49Z</dcterms:modified>
</cp:coreProperties>
</file>