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56" r:id="rId3"/>
    <p:sldId id="257" r:id="rId4"/>
    <p:sldId id="27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8288000" cy="10287000"/>
  <p:notesSz cx="6858000" cy="9144000"/>
  <p:embeddedFontLst>
    <p:embeddedFont>
      <p:font typeface="Montserrat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C7941B-17A7-4192-8ADD-EBD36441CBD0}" v="79" dt="2026-03-28T16:09:58.1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95" d="100"/>
          <a:sy n="95" d="100"/>
        </p:scale>
        <p:origin x="48" y="4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Donovan" userId="f73b3e02230ea300" providerId="LiveId" clId="{5E77A3F7-03E2-4BD5-9F0F-35725CF8AD4A}"/>
    <pc:docChg chg="undo custSel modSld">
      <pc:chgData name="Greg Donovan" userId="f73b3e02230ea300" providerId="LiveId" clId="{5E77A3F7-03E2-4BD5-9F0F-35725CF8AD4A}" dt="2026-03-28T16:09:58.118" v="90" actId="14100"/>
      <pc:docMkLst>
        <pc:docMk/>
      </pc:docMkLst>
      <pc:sldChg chg="modSp">
        <pc:chgData name="Greg Donovan" userId="f73b3e02230ea300" providerId="LiveId" clId="{5E77A3F7-03E2-4BD5-9F0F-35725CF8AD4A}" dt="2026-03-28T16:09:58.118" v="90" actId="14100"/>
        <pc:sldMkLst>
          <pc:docMk/>
          <pc:sldMk cId="0" sldId="257"/>
        </pc:sldMkLst>
        <pc:picChg chg="mod">
          <ac:chgData name="Greg Donovan" userId="f73b3e02230ea300" providerId="LiveId" clId="{5E77A3F7-03E2-4BD5-9F0F-35725CF8AD4A}" dt="2026-03-28T16:09:58.118" v="90" actId="14100"/>
          <ac:picMkLst>
            <pc:docMk/>
            <pc:sldMk cId="0" sldId="257"/>
            <ac:picMk id="6158" creationId="{31C3022D-EF50-CDF2-5289-A70154BB5186}"/>
          </ac:picMkLst>
        </pc:picChg>
      </pc:sldChg>
      <pc:sldChg chg="addSp delSp modSp mod">
        <pc:chgData name="Greg Donovan" userId="f73b3e02230ea300" providerId="LiveId" clId="{5E77A3F7-03E2-4BD5-9F0F-35725CF8AD4A}" dt="2026-03-28T16:08:20.586" v="13" actId="14100"/>
        <pc:sldMkLst>
          <pc:docMk/>
          <pc:sldMk cId="0" sldId="268"/>
        </pc:sldMkLst>
        <pc:picChg chg="add mod">
          <ac:chgData name="Greg Donovan" userId="f73b3e02230ea300" providerId="LiveId" clId="{5E77A3F7-03E2-4BD5-9F0F-35725CF8AD4A}" dt="2026-03-28T16:08:20.586" v="13" actId="14100"/>
          <ac:picMkLst>
            <pc:docMk/>
            <pc:sldMk cId="0" sldId="268"/>
            <ac:picMk id="7" creationId="{BCBE4D7D-9CAC-216A-6EF1-A00F6D2450A2}"/>
          </ac:picMkLst>
        </pc:picChg>
        <pc:picChg chg="add del">
          <ac:chgData name="Greg Donovan" userId="f73b3e02230ea300" providerId="LiveId" clId="{5E77A3F7-03E2-4BD5-9F0F-35725CF8AD4A}" dt="2026-03-28T16:07:48.919" v="6" actId="22"/>
          <ac:picMkLst>
            <pc:docMk/>
            <pc:sldMk cId="0" sldId="268"/>
            <ac:picMk id="10" creationId="{73E4B29A-40AA-3FF3-820C-3D5936B72572}"/>
          </ac:picMkLst>
        </pc:picChg>
        <pc:picChg chg="del mod">
          <ac:chgData name="Greg Donovan" userId="f73b3e02230ea300" providerId="LiveId" clId="{5E77A3F7-03E2-4BD5-9F0F-35725CF8AD4A}" dt="2026-03-28T16:05:26.844" v="1" actId="478"/>
          <ac:picMkLst>
            <pc:docMk/>
            <pc:sldMk cId="0" sldId="268"/>
            <ac:picMk id="5122" creationId="{69E33E27-DFE6-3838-17F6-497EA5F7291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Graph or pie chart image</a:t>
            </a:r>
          </a:p>
          <a:p>
            <a:endParaRPr lang="en-US"/>
          </a:p>
          <a:p>
            <a:r>
              <a:rPr lang="en-US"/>
              <a:t>Stock image of a depressed/stressed guy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5376D-A564-9BDF-CEE5-B501D9559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54E46-A78E-5931-F048-59B8F1255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88CB0-528C-D27A-9824-CC23918A5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AD4F1-9449-9865-7B66-5406039114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8259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68 Million Gamers Have Anxiety in the US alone. There are roughly 205 million gamers in the US alone</a:t>
            </a:r>
          </a:p>
          <a:p>
            <a:endParaRPr lang="en-US"/>
          </a:p>
          <a:p>
            <a:r>
              <a:rPr lang="en-US"/>
              <a:t>There are 3.2 billion gamers worldwide. When you take into account the average of 30% of the population having an anxiety disorder (whether diagnosed or not), you get ~1 billion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736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907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828755" rtl="0" eaLnBrk="1" latinLnBrk="0" hangingPunct="1">
        <a:spcBef>
          <a:spcPct val="0"/>
        </a:spcBef>
        <a:buNone/>
        <a:defRPr sz="88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784" indent="-685784" algn="l" defTabSz="1828755" rtl="0" eaLnBrk="1" latinLnBrk="0" hangingPunct="1">
        <a:spcBef>
          <a:spcPct val="20000"/>
        </a:spcBef>
        <a:buFont typeface="Arial" pitchFamily="34" charset="0"/>
        <a:buChar char="•"/>
        <a:defRPr sz="6401" kern="1200">
          <a:solidFill>
            <a:schemeClr val="tx1"/>
          </a:solidFill>
          <a:latin typeface="+mn-lt"/>
          <a:ea typeface="+mn-ea"/>
          <a:cs typeface="+mn-cs"/>
        </a:defRPr>
      </a:lvl1pPr>
      <a:lvl2pPr marL="1485863" indent="-571485" algn="l" defTabSz="1828755" rtl="0" eaLnBrk="1" latinLnBrk="0" hangingPunct="1">
        <a:spcBef>
          <a:spcPct val="20000"/>
        </a:spcBef>
        <a:buFont typeface="Arial" pitchFamily="34" charset="0"/>
        <a:buChar char="–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943" indent="-457188" algn="l" defTabSz="1828755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321" indent="-457188" algn="l" defTabSz="1828755" rtl="0" eaLnBrk="1" latinLnBrk="0" hangingPunct="1">
        <a:spcBef>
          <a:spcPct val="20000"/>
        </a:spcBef>
        <a:buFont typeface="Arial" pitchFamily="34" charset="0"/>
        <a:buChar char="–"/>
        <a:defRPr sz="4001" kern="1200">
          <a:solidFill>
            <a:schemeClr val="tx1"/>
          </a:solidFill>
          <a:latin typeface="+mn-lt"/>
          <a:ea typeface="+mn-ea"/>
          <a:cs typeface="+mn-cs"/>
        </a:defRPr>
      </a:lvl4pPr>
      <a:lvl5pPr marL="4114697" indent="-457188" algn="l" defTabSz="1828755" rtl="0" eaLnBrk="1" latinLnBrk="0" hangingPunct="1">
        <a:spcBef>
          <a:spcPct val="20000"/>
        </a:spcBef>
        <a:buFont typeface="Arial" pitchFamily="34" charset="0"/>
        <a:buChar char="»"/>
        <a:defRPr sz="4001" kern="1200">
          <a:solidFill>
            <a:schemeClr val="tx1"/>
          </a:solidFill>
          <a:latin typeface="+mn-lt"/>
          <a:ea typeface="+mn-ea"/>
          <a:cs typeface="+mn-cs"/>
        </a:defRPr>
      </a:lvl5pPr>
      <a:lvl6pPr marL="5029074" indent="-457188" algn="l" defTabSz="1828755" rtl="0" eaLnBrk="1" latinLnBrk="0" hangingPunct="1">
        <a:spcBef>
          <a:spcPct val="20000"/>
        </a:spcBef>
        <a:buFont typeface="Arial" pitchFamily="34" charset="0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6pPr>
      <a:lvl7pPr marL="5943452" indent="-457188" algn="l" defTabSz="1828755" rtl="0" eaLnBrk="1" latinLnBrk="0" hangingPunct="1">
        <a:spcBef>
          <a:spcPct val="20000"/>
        </a:spcBef>
        <a:buFont typeface="Arial" pitchFamily="34" charset="0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7pPr>
      <a:lvl8pPr marL="6857829" indent="-457188" algn="l" defTabSz="1828755" rtl="0" eaLnBrk="1" latinLnBrk="0" hangingPunct="1">
        <a:spcBef>
          <a:spcPct val="20000"/>
        </a:spcBef>
        <a:buFont typeface="Arial" pitchFamily="34" charset="0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8pPr>
      <a:lvl9pPr marL="7772205" indent="-457188" algn="l" defTabSz="1828755" rtl="0" eaLnBrk="1" latinLnBrk="0" hangingPunct="1">
        <a:spcBef>
          <a:spcPct val="20000"/>
        </a:spcBef>
        <a:buFont typeface="Arial" pitchFamily="34" charset="0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5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78" algn="l" defTabSz="182875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55" algn="l" defTabSz="182875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131" algn="l" defTabSz="182875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509" algn="l" defTabSz="182875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886" algn="l" defTabSz="182875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264" algn="l" defTabSz="182875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640" algn="l" defTabSz="182875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017" algn="l" defTabSz="182875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8842" y="1028700"/>
            <a:ext cx="15030316" cy="8229600"/>
          </a:xfrm>
          <a:custGeom>
            <a:avLst/>
            <a:gdLst/>
            <a:ahLst/>
            <a:cxnLst/>
            <a:rect l="l" t="t" r="r" b="b"/>
            <a:pathLst>
              <a:path w="15030316" h="8229600">
                <a:moveTo>
                  <a:pt x="0" y="0"/>
                </a:moveTo>
                <a:lnTo>
                  <a:pt x="15030316" y="0"/>
                </a:lnTo>
                <a:lnTo>
                  <a:pt x="1503031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178" r="-11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06" name="FooterBar"/>
          <p:cNvSpPr/>
          <p:nvPr/>
        </p:nvSpPr>
        <p:spPr>
          <a:xfrm>
            <a:off x="0" y="9838944"/>
            <a:ext cx="18288000" cy="448056"/>
          </a:xfrm>
          <a:prstGeom prst="rect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7" name="ConfidentialText"/>
          <p:cNvSpPr/>
          <p:nvPr/>
        </p:nvSpPr>
        <p:spPr>
          <a:xfrm>
            <a:off x="12801600" y="9838944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kern="0" spc="267" dirty="0">
                <a:ln>
                  <a:noFill/>
                </a:ln>
                <a:solidFill>
                  <a:srgbClr val="B0A0D8"/>
                </a:solidFill>
                <a:effectLst/>
                <a:latin typeface="Calibri" pitchFamily="34" charset="0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166402" y="5143500"/>
            <a:ext cx="15673798" cy="8352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lnSpc>
                <a:spcPts val="6912"/>
              </a:lnSpc>
              <a:buFont typeface="Wingdings" panose="05000000000000000000" pitchFamily="2" charset="2"/>
              <a:buChar char="Ø"/>
            </a:pP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People Shut Down, Can’t Work, Relationships Degrade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4160" y="6444156"/>
            <a:ext cx="11866039" cy="8352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lnSpc>
                <a:spcPts val="6912"/>
              </a:lnSpc>
              <a:buFont typeface="Wingdings" panose="05000000000000000000" pitchFamily="2" charset="2"/>
              <a:buChar char="Ø"/>
            </a:pP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“Great Rewiring of Childhood” (Haidt)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4161" y="7757837"/>
            <a:ext cx="8307876" cy="83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6912"/>
              </a:lnSpc>
              <a:buFont typeface="Wingdings" panose="05000000000000000000" pitchFamily="2" charset="2"/>
              <a:buChar char="Ø"/>
            </a:pP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Up from 22% in 2003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6403" y="929021"/>
            <a:ext cx="16092897" cy="3300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1828755">
              <a:lnSpc>
                <a:spcPct val="110000"/>
              </a:lnSpc>
              <a:defRPr/>
            </a:pPr>
            <a:r>
              <a:rPr lang="en-US" sz="10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44% of Adults have </a:t>
            </a:r>
          </a:p>
          <a:p>
            <a:pPr defTabSz="1828755">
              <a:lnSpc>
                <a:spcPct val="110000"/>
              </a:lnSpc>
              <a:defRPr/>
            </a:pPr>
            <a:r>
              <a:rPr lang="en-US" sz="100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Anxiety Disorders</a:t>
            </a:r>
          </a:p>
        </p:txBody>
      </p:sp>
      <p:sp>
        <p:nvSpPr>
          <p:cNvPr id="901" name="LeftBar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9E85E3"/>
          </a:solidFill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2" name="GhostCircle1"/>
          <p:cNvSpPr/>
          <p:nvPr/>
        </p:nvSpPr>
        <p:spPr>
          <a:xfrm>
            <a:off x="11155680" y="-4206240"/>
            <a:ext cx="10241280" cy="10241280"/>
          </a:xfrm>
          <a:prstGeom prst="ellipse">
            <a:avLst/>
          </a:prstGeom>
          <a:noFill/>
          <a:ln w="22860">
            <a:solidFill>
              <a:srgbClr val="9E85E3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3" name="GhostCircle2"/>
          <p:cNvSpPr/>
          <p:nvPr/>
        </p:nvSpPr>
        <p:spPr>
          <a:xfrm>
            <a:off x="12435840" y="-2926080"/>
            <a:ext cx="7680960" cy="7680960"/>
          </a:xfrm>
          <a:prstGeom prst="ellipse">
            <a:avLst/>
          </a:prstGeom>
          <a:noFill/>
          <a:ln w="22860">
            <a:solidFill>
              <a:srgbClr val="9E85E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4" name="GhostCircle3"/>
          <p:cNvSpPr/>
          <p:nvPr/>
        </p:nvSpPr>
        <p:spPr>
          <a:xfrm>
            <a:off x="13624560" y="-1737360"/>
            <a:ext cx="5303520" cy="5303520"/>
          </a:xfrm>
          <a:prstGeom prst="ellipse">
            <a:avLst/>
          </a:prstGeom>
          <a:noFill/>
          <a:ln w="22860">
            <a:solidFill>
              <a:srgbClr val="9E85E3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5" name="GhostCircle4"/>
          <p:cNvSpPr/>
          <p:nvPr/>
        </p:nvSpPr>
        <p:spPr>
          <a:xfrm>
            <a:off x="14721840" y="-640080"/>
            <a:ext cx="3108960" cy="3108960"/>
          </a:xfrm>
          <a:prstGeom prst="ellipse">
            <a:avLst/>
          </a:prstGeom>
          <a:noFill/>
          <a:ln w="22860">
            <a:solidFill>
              <a:srgbClr val="9E85E3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6" name="FooterBar"/>
          <p:cNvSpPr/>
          <p:nvPr/>
        </p:nvSpPr>
        <p:spPr>
          <a:xfrm>
            <a:off x="0" y="9838944"/>
            <a:ext cx="18288000" cy="448056"/>
          </a:xfrm>
          <a:prstGeom prst="rect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7" name="ConfidentialText"/>
          <p:cNvSpPr/>
          <p:nvPr/>
        </p:nvSpPr>
        <p:spPr>
          <a:xfrm>
            <a:off x="12801600" y="9838944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kern="0" spc="267" dirty="0">
                <a:ln>
                  <a:noFill/>
                </a:ln>
                <a:solidFill>
                  <a:srgbClr val="B0A0D8"/>
                </a:solidFill>
                <a:effectLst/>
                <a:latin typeface="Calibri" pitchFamily="34" charset="0"/>
              </a:rPr>
              <a:t>CONFIDENTIAL</a:t>
            </a:r>
          </a:p>
        </p:txBody>
      </p:sp>
      <p:pic>
        <p:nvPicPr>
          <p:cNvPr id="908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2824" y="8871114"/>
            <a:ext cx="835209" cy="820092"/>
          </a:xfrm>
          <a:prstGeom prst="rect">
            <a:avLst/>
          </a:prstGeom>
        </p:spPr>
      </p:pic>
      <p:sp>
        <p:nvSpPr>
          <p:cNvPr id="9" name="Shape 8">
            <a:extLst>
              <a:ext uri="{FF2B5EF4-FFF2-40B4-BE49-F238E27FC236}">
                <a16:creationId xmlns:a16="http://schemas.microsoft.com/office/drawing/2014/main" id="{35F4C503-0F81-AD60-50E2-5C16B3585DF3}"/>
              </a:ext>
            </a:extLst>
          </p:cNvPr>
          <p:cNvSpPr/>
          <p:nvPr/>
        </p:nvSpPr>
        <p:spPr>
          <a:xfrm>
            <a:off x="1164160" y="4381500"/>
            <a:ext cx="4267200" cy="0"/>
          </a:xfrm>
          <a:prstGeom prst="line">
            <a:avLst/>
          </a:prstGeom>
          <a:noFill/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58" name="Picture 14" descr="anxious brain vs normal brain">
            <a:extLst>
              <a:ext uri="{FF2B5EF4-FFF2-40B4-BE49-F238E27FC236}">
                <a16:creationId xmlns:a16="http://schemas.microsoft.com/office/drawing/2014/main" id="{31C3022D-EF50-CDF2-5289-A70154BB5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61694"/>
            <a:ext cx="20290360" cy="9774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03CA7F-51E7-36C9-7A0E-BD35D0208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2E7A58-C23E-DD9B-1F06-618FE32AF9AE}"/>
              </a:ext>
            </a:extLst>
          </p:cNvPr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9E85E3"/>
          </a:solidFill>
          <a:ln w="12700">
            <a:solidFill>
              <a:srgbClr val="9E85E3"/>
            </a:solidFill>
            <a:prstDash val="solid"/>
          </a:ln>
        </p:spPr>
        <p:txBody>
          <a:bodyPr/>
          <a:lstStyle/>
          <a:p>
            <a:pPr defTabSz="1828755">
              <a:defRPr/>
            </a:pPr>
            <a:endParaRPr lang="en-US" sz="3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F5E9104-73AE-FC01-4B7F-D2F15B95958E}"/>
              </a:ext>
            </a:extLst>
          </p:cNvPr>
          <p:cNvSpPr/>
          <p:nvPr/>
        </p:nvSpPr>
        <p:spPr>
          <a:xfrm>
            <a:off x="11155680" y="-4206240"/>
            <a:ext cx="10241280" cy="10241280"/>
          </a:xfrm>
          <a:prstGeom prst="ellipse">
            <a:avLst/>
          </a:prstGeom>
          <a:ln w="15240">
            <a:solidFill>
              <a:srgbClr val="9E85E3">
                <a:alpha val="8000"/>
              </a:srgbClr>
            </a:solidFill>
            <a:prstDash val="solid"/>
          </a:ln>
        </p:spPr>
        <p:txBody>
          <a:bodyPr/>
          <a:lstStyle/>
          <a:p>
            <a:pPr defTabSz="1828755">
              <a:defRPr/>
            </a:pPr>
            <a:endParaRPr lang="en-US" sz="3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1981167-F61D-A821-197E-7F49526F1825}"/>
              </a:ext>
            </a:extLst>
          </p:cNvPr>
          <p:cNvSpPr/>
          <p:nvPr/>
        </p:nvSpPr>
        <p:spPr>
          <a:xfrm>
            <a:off x="12435840" y="-2926080"/>
            <a:ext cx="7680960" cy="7680960"/>
          </a:xfrm>
          <a:prstGeom prst="ellipse">
            <a:avLst/>
          </a:prstGeom>
          <a:ln w="15240">
            <a:solidFill>
              <a:srgbClr val="9E85E3">
                <a:alpha val="12000"/>
              </a:srgbClr>
            </a:solidFill>
            <a:prstDash val="solid"/>
          </a:ln>
        </p:spPr>
        <p:txBody>
          <a:bodyPr/>
          <a:lstStyle/>
          <a:p>
            <a:pPr defTabSz="1828755">
              <a:defRPr/>
            </a:pPr>
            <a:endParaRPr lang="en-US" sz="3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66C790B-32CD-76BA-2B17-41AFBE2D570E}"/>
              </a:ext>
            </a:extLst>
          </p:cNvPr>
          <p:cNvSpPr/>
          <p:nvPr/>
        </p:nvSpPr>
        <p:spPr>
          <a:xfrm>
            <a:off x="13624560" y="-1737360"/>
            <a:ext cx="5303520" cy="5303520"/>
          </a:xfrm>
          <a:prstGeom prst="ellipse">
            <a:avLst/>
          </a:prstGeom>
          <a:ln w="15240">
            <a:solidFill>
              <a:srgbClr val="9E85E3">
                <a:alpha val="18000"/>
              </a:srgbClr>
            </a:solidFill>
            <a:prstDash val="solid"/>
          </a:ln>
        </p:spPr>
        <p:txBody>
          <a:bodyPr/>
          <a:lstStyle/>
          <a:p>
            <a:pPr defTabSz="1828755">
              <a:defRPr/>
            </a:pPr>
            <a:endParaRPr lang="en-US" sz="3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E360185-0ED8-57B0-B3B0-7B96608419B8}"/>
              </a:ext>
            </a:extLst>
          </p:cNvPr>
          <p:cNvSpPr/>
          <p:nvPr/>
        </p:nvSpPr>
        <p:spPr>
          <a:xfrm>
            <a:off x="14721840" y="-640080"/>
            <a:ext cx="3108960" cy="3108960"/>
          </a:xfrm>
          <a:prstGeom prst="ellipse">
            <a:avLst/>
          </a:prstGeom>
          <a:ln w="15240">
            <a:solidFill>
              <a:srgbClr val="9E85E3">
                <a:alpha val="26000"/>
              </a:srgbClr>
            </a:solidFill>
            <a:prstDash val="solid"/>
          </a:ln>
        </p:spPr>
        <p:txBody>
          <a:bodyPr/>
          <a:lstStyle/>
          <a:p>
            <a:pPr defTabSz="1828755">
              <a:defRPr/>
            </a:pPr>
            <a:endParaRPr lang="en-US" sz="3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16453B5-0D2B-3D01-27C2-30FD93DA6CD6}"/>
              </a:ext>
            </a:extLst>
          </p:cNvPr>
          <p:cNvSpPr/>
          <p:nvPr/>
        </p:nvSpPr>
        <p:spPr>
          <a:xfrm>
            <a:off x="768096" y="1042146"/>
            <a:ext cx="13716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755">
              <a:lnSpc>
                <a:spcPct val="110000"/>
              </a:lnSpc>
              <a:defRPr/>
            </a:pPr>
            <a:r>
              <a:rPr lang="en-US" sz="10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Cost of</a:t>
            </a:r>
            <a:endParaRPr lang="en-US" sz="10000" dirty="0">
              <a:solidFill>
                <a:prstClr val="black"/>
              </a:solidFill>
              <a:latin typeface="Calibri" panose="020F0502020204030204"/>
            </a:endParaRPr>
          </a:p>
          <a:p>
            <a:pPr defTabSz="1828755">
              <a:lnSpc>
                <a:spcPct val="110000"/>
              </a:lnSpc>
              <a:defRPr/>
            </a:pPr>
            <a:r>
              <a:rPr lang="en-US" sz="100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Anxiety at Work</a:t>
            </a:r>
            <a:endParaRPr lang="en-US" sz="10000" i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F661190-907C-1E3E-52C9-284346B4E413}"/>
              </a:ext>
            </a:extLst>
          </p:cNvPr>
          <p:cNvSpPr/>
          <p:nvPr/>
        </p:nvSpPr>
        <p:spPr>
          <a:xfrm>
            <a:off x="768096" y="5600700"/>
            <a:ext cx="6400800" cy="0"/>
          </a:xfrm>
          <a:prstGeom prst="line">
            <a:avLst/>
          </a:prstGeom>
          <a:noFill/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pPr defTabSz="1828755">
              <a:defRPr/>
            </a:pPr>
            <a:endParaRPr lang="en-US" sz="3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5324509-3A2A-DABB-5748-14B0E339B62E}"/>
              </a:ext>
            </a:extLst>
          </p:cNvPr>
          <p:cNvSpPr/>
          <p:nvPr/>
        </p:nvSpPr>
        <p:spPr>
          <a:xfrm>
            <a:off x="768096" y="64922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755">
              <a:defRPr/>
            </a:pPr>
            <a:r>
              <a:rPr lang="en-US" sz="7601" b="1" dirty="0">
                <a:solidFill>
                  <a:srgbClr val="9E8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$1T+</a:t>
            </a:r>
            <a:endParaRPr lang="en-US" sz="76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5D2731E-3464-E7CF-E827-5BDA6F282498}"/>
              </a:ext>
            </a:extLst>
          </p:cNvPr>
          <p:cNvSpPr/>
          <p:nvPr/>
        </p:nvSpPr>
        <p:spPr>
          <a:xfrm>
            <a:off x="768096" y="78638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755">
              <a:lnSpc>
                <a:spcPct val="125000"/>
              </a:lnSpc>
              <a:defRPr/>
            </a:pPr>
            <a:r>
              <a:rPr lang="en-US" sz="360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hit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  <a:p>
            <a:pPr defTabSz="1828755">
              <a:lnSpc>
                <a:spcPct val="125000"/>
              </a:lnSpc>
              <a:defRPr/>
            </a:pPr>
            <a:r>
              <a:rPr lang="en-US" sz="360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0A363E6-67CE-43A3-3148-F165C748B862}"/>
              </a:ext>
            </a:extLst>
          </p:cNvPr>
          <p:cNvSpPr/>
          <p:nvPr/>
        </p:nvSpPr>
        <p:spPr>
          <a:xfrm>
            <a:off x="5431536" y="64922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755">
              <a:defRPr/>
            </a:pPr>
            <a:r>
              <a:rPr lang="en-US" sz="7601" b="1" dirty="0">
                <a:solidFill>
                  <a:srgbClr val="9E8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12B</a:t>
            </a:r>
            <a:endParaRPr lang="en-US" sz="76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9C203F1-0F11-15FD-FEE6-C7CCFEC71135}"/>
              </a:ext>
            </a:extLst>
          </p:cNvPr>
          <p:cNvSpPr/>
          <p:nvPr/>
        </p:nvSpPr>
        <p:spPr>
          <a:xfrm>
            <a:off x="5431536" y="78638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755">
              <a:lnSpc>
                <a:spcPct val="125000"/>
              </a:lnSpc>
              <a:defRPr/>
            </a:pPr>
            <a:r>
              <a:rPr lang="en-US" sz="360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  <a:p>
            <a:pPr defTabSz="1828755">
              <a:lnSpc>
                <a:spcPct val="125000"/>
              </a:lnSpc>
              <a:defRPr/>
            </a:pPr>
            <a:r>
              <a:rPr lang="en-US" sz="360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year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BD8EC95-CF24-12C5-0A62-B27DCA7B4E4A}"/>
              </a:ext>
            </a:extLst>
          </p:cNvPr>
          <p:cNvSpPr/>
          <p:nvPr/>
        </p:nvSpPr>
        <p:spPr>
          <a:xfrm>
            <a:off x="10094976" y="64922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755">
              <a:defRPr/>
            </a:pPr>
            <a:r>
              <a:rPr lang="en-US" sz="7601" b="1" dirty="0">
                <a:solidFill>
                  <a:srgbClr val="9E8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76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4E785CF-D791-C330-D6DA-06D272303177}"/>
              </a:ext>
            </a:extLst>
          </p:cNvPr>
          <p:cNvSpPr/>
          <p:nvPr/>
        </p:nvSpPr>
        <p:spPr>
          <a:xfrm>
            <a:off x="10094976" y="78638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755">
              <a:lnSpc>
                <a:spcPct val="125000"/>
              </a:lnSpc>
              <a:defRPr/>
            </a:pPr>
            <a:r>
              <a:rPr lang="en-US" sz="360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report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  <a:p>
            <a:pPr defTabSz="1828755">
              <a:lnSpc>
                <a:spcPct val="125000"/>
              </a:lnSpc>
              <a:defRPr/>
            </a:pPr>
            <a:r>
              <a:rPr lang="en-US" sz="360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4CC6846-847F-4235-84A0-926B52EAD377}"/>
              </a:ext>
            </a:extLst>
          </p:cNvPr>
          <p:cNvSpPr/>
          <p:nvPr/>
        </p:nvSpPr>
        <p:spPr>
          <a:xfrm>
            <a:off x="0" y="9838944"/>
            <a:ext cx="18288000" cy="4480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defTabSz="1828755">
              <a:defRPr/>
            </a:pPr>
            <a:endParaRPr lang="en-US" sz="3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3AF1F9A-EEB2-F467-419C-5B106EB8B43A}"/>
              </a:ext>
            </a:extLst>
          </p:cNvPr>
          <p:cNvSpPr/>
          <p:nvPr/>
        </p:nvSpPr>
        <p:spPr>
          <a:xfrm>
            <a:off x="12801600" y="9838944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828755">
              <a:defRPr/>
            </a:pPr>
            <a:r>
              <a:rPr lang="en-US" kern="0" spc="401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B974E58-9138-3E26-F6E0-2C87F8B6CA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2824" y="8871114"/>
            <a:ext cx="835209" cy="820092"/>
          </a:xfrm>
          <a:prstGeom prst="rect">
            <a:avLst/>
          </a:prstGeom>
        </p:spPr>
      </p:pic>
      <p:pic>
        <p:nvPicPr>
          <p:cNvPr id="7" name="Picture 2" descr="meditation illustration">
            <a:extLst>
              <a:ext uri="{FF2B5EF4-FFF2-40B4-BE49-F238E27FC236}">
                <a16:creationId xmlns:a16="http://schemas.microsoft.com/office/drawing/2014/main" id="{2CA823EF-56EB-7B0D-C365-2C7A83E6F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5" r="14569"/>
          <a:stretch>
            <a:fillRect/>
          </a:stretch>
        </p:blipFill>
        <p:spPr bwMode="auto">
          <a:xfrm>
            <a:off x="3967164" y="-1"/>
            <a:ext cx="14320836" cy="10488707"/>
          </a:xfrm>
          <a:custGeom>
            <a:avLst/>
            <a:gdLst/>
            <a:ahLst/>
            <a:cxnLst/>
            <a:rect l="l" t="t" r="r" b="b"/>
            <a:pathLst>
              <a:path w="9547224" h="6858000">
                <a:moveTo>
                  <a:pt x="1623023" y="0"/>
                </a:moveTo>
                <a:lnTo>
                  <a:pt x="2716256" y="0"/>
                </a:lnTo>
                <a:lnTo>
                  <a:pt x="3032455" y="0"/>
                </a:lnTo>
                <a:lnTo>
                  <a:pt x="3496422" y="0"/>
                </a:lnTo>
                <a:lnTo>
                  <a:pt x="5205951" y="0"/>
                </a:lnTo>
                <a:lnTo>
                  <a:pt x="9547224" y="0"/>
                </a:lnTo>
                <a:lnTo>
                  <a:pt x="9547224" y="6858000"/>
                </a:lnTo>
                <a:lnTo>
                  <a:pt x="5205951" y="6858000"/>
                </a:lnTo>
                <a:lnTo>
                  <a:pt x="3496422" y="6858000"/>
                </a:lnTo>
                <a:lnTo>
                  <a:pt x="3032455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429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6403" y="929021"/>
            <a:ext cx="16173479" cy="33009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1828755">
              <a:lnSpc>
                <a:spcPct val="110000"/>
              </a:lnSpc>
              <a:defRPr/>
            </a:pPr>
            <a:r>
              <a:rPr lang="en-US" sz="10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Meditation Reduces Symptoms </a:t>
            </a:r>
          </a:p>
          <a:p>
            <a:pPr defTabSz="1828755">
              <a:lnSpc>
                <a:spcPct val="110000"/>
              </a:lnSpc>
              <a:defRPr/>
            </a:pPr>
            <a:r>
              <a:rPr lang="en-US" sz="100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by 30%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9910" y="5413298"/>
            <a:ext cx="11691690" cy="8352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6912"/>
              </a:lnSpc>
              <a:buFont typeface="Wingdings" panose="05000000000000000000" pitchFamily="2" charset="2"/>
              <a:buChar char="Ø"/>
            </a:pP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Just as Effective as Anxiety Medication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09910" y="7051407"/>
            <a:ext cx="8307876" cy="83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lnSpc>
                <a:spcPts val="6912"/>
              </a:lnSpc>
              <a:buFont typeface="Wingdings" panose="05000000000000000000" pitchFamily="2" charset="2"/>
              <a:buChar char="Ø"/>
            </a:pP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Reduces Cortisol Levels</a:t>
            </a:r>
          </a:p>
        </p:txBody>
      </p:sp>
      <p:sp>
        <p:nvSpPr>
          <p:cNvPr id="901" name="LeftBar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9E85E3"/>
          </a:solidFill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2" name="GhostCircle1"/>
          <p:cNvSpPr/>
          <p:nvPr/>
        </p:nvSpPr>
        <p:spPr>
          <a:xfrm>
            <a:off x="11155680" y="-4206240"/>
            <a:ext cx="10241280" cy="10241280"/>
          </a:xfrm>
          <a:prstGeom prst="ellipse">
            <a:avLst/>
          </a:prstGeom>
          <a:noFill/>
          <a:ln w="22860">
            <a:solidFill>
              <a:srgbClr val="9E85E3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3" name="GhostCircle2"/>
          <p:cNvSpPr/>
          <p:nvPr/>
        </p:nvSpPr>
        <p:spPr>
          <a:xfrm>
            <a:off x="12435840" y="-2926080"/>
            <a:ext cx="7680960" cy="7680960"/>
          </a:xfrm>
          <a:prstGeom prst="ellipse">
            <a:avLst/>
          </a:prstGeom>
          <a:noFill/>
          <a:ln w="22860">
            <a:solidFill>
              <a:srgbClr val="9E85E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4" name="GhostCircle3"/>
          <p:cNvSpPr/>
          <p:nvPr/>
        </p:nvSpPr>
        <p:spPr>
          <a:xfrm>
            <a:off x="13624560" y="-1737360"/>
            <a:ext cx="5303520" cy="5303520"/>
          </a:xfrm>
          <a:prstGeom prst="ellipse">
            <a:avLst/>
          </a:prstGeom>
          <a:noFill/>
          <a:ln w="22860">
            <a:solidFill>
              <a:srgbClr val="9E85E3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5" name="GhostCircle4"/>
          <p:cNvSpPr/>
          <p:nvPr/>
        </p:nvSpPr>
        <p:spPr>
          <a:xfrm>
            <a:off x="14721840" y="-640080"/>
            <a:ext cx="3108960" cy="3108960"/>
          </a:xfrm>
          <a:prstGeom prst="ellipse">
            <a:avLst/>
          </a:prstGeom>
          <a:noFill/>
          <a:ln w="22860">
            <a:solidFill>
              <a:srgbClr val="9E85E3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6" name="FooterBar"/>
          <p:cNvSpPr/>
          <p:nvPr/>
        </p:nvSpPr>
        <p:spPr>
          <a:xfrm>
            <a:off x="0" y="9838944"/>
            <a:ext cx="18288000" cy="448056"/>
          </a:xfrm>
          <a:prstGeom prst="rect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7" name="ConfidentialText"/>
          <p:cNvSpPr/>
          <p:nvPr/>
        </p:nvSpPr>
        <p:spPr>
          <a:xfrm>
            <a:off x="12801600" y="9838944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kern="0" spc="267" dirty="0">
                <a:ln>
                  <a:noFill/>
                </a:ln>
                <a:solidFill>
                  <a:srgbClr val="B0A0D8"/>
                </a:solidFill>
                <a:effectLst/>
                <a:latin typeface="Calibri" pitchFamily="34" charset="0"/>
              </a:rPr>
              <a:t>CONFIDENTIAL</a:t>
            </a:r>
          </a:p>
        </p:txBody>
      </p:sp>
      <p:pic>
        <p:nvPicPr>
          <p:cNvPr id="908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824" y="8871114"/>
            <a:ext cx="835209" cy="820092"/>
          </a:xfrm>
          <a:prstGeom prst="rect">
            <a:avLst/>
          </a:prstGeom>
        </p:spPr>
      </p:pic>
      <p:sp>
        <p:nvSpPr>
          <p:cNvPr id="6" name="Shape 8">
            <a:extLst>
              <a:ext uri="{FF2B5EF4-FFF2-40B4-BE49-F238E27FC236}">
                <a16:creationId xmlns:a16="http://schemas.microsoft.com/office/drawing/2014/main" id="{FF67C0F0-CF23-47BB-7E68-D48FE563F4BC}"/>
              </a:ext>
            </a:extLst>
          </p:cNvPr>
          <p:cNvSpPr/>
          <p:nvPr/>
        </p:nvSpPr>
        <p:spPr>
          <a:xfrm>
            <a:off x="1166403" y="4914900"/>
            <a:ext cx="4267200" cy="0"/>
          </a:xfrm>
          <a:prstGeom prst="line">
            <a:avLst/>
          </a:prstGeom>
          <a:noFill/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ABFD744-9871-EABD-A2A4-81DC037A9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06" y="3324"/>
            <a:ext cx="17739360" cy="9835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6403" y="929021"/>
            <a:ext cx="16092897" cy="3300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1828755">
              <a:lnSpc>
                <a:spcPct val="110000"/>
              </a:lnSpc>
              <a:defRPr/>
            </a:pPr>
            <a:r>
              <a:rPr lang="en-US" sz="10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62% Meditation App Users </a:t>
            </a:r>
            <a:r>
              <a:rPr lang="en-US" sz="100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Dropout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621250" y="8786425"/>
            <a:ext cx="8216005" cy="97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9"/>
              </a:lnSpc>
            </a:pPr>
            <a:r>
              <a:rPr lang="en-US" sz="4399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Calmness brings Consistency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6403" y="5061276"/>
            <a:ext cx="15125700" cy="4324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6912"/>
              </a:lnSpc>
              <a:buFont typeface="Wingdings" panose="05000000000000000000" pitchFamily="2" charset="2"/>
              <a:buChar char="Ø"/>
            </a:pP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Survey of 40 people who tried </a:t>
            </a:r>
            <a:r>
              <a:rPr lang="en-US" sz="5070" dirty="0" err="1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EchoScape</a:t>
            </a: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:</a:t>
            </a:r>
          </a:p>
          <a:p>
            <a:pPr marL="1143000" lvl="3" indent="-685800">
              <a:lnSpc>
                <a:spcPts val="6912"/>
              </a:lnSpc>
              <a:buFont typeface="Arial" panose="020B0604020202020204" pitchFamily="34" charset="0"/>
              <a:buChar char="•"/>
            </a:pPr>
            <a:r>
              <a:rPr lang="en-US" sz="4400" i="1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61%: “My mind wanders too much”</a:t>
            </a:r>
          </a:p>
          <a:p>
            <a:pPr marL="1143000" lvl="3" indent="-685800">
              <a:lnSpc>
                <a:spcPts val="6912"/>
              </a:lnSpc>
              <a:buFont typeface="Arial" panose="020B0604020202020204" pitchFamily="34" charset="0"/>
              <a:buChar char="•"/>
            </a:pPr>
            <a:r>
              <a:rPr lang="en-US" sz="4400" i="1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46%: “I need to move”</a:t>
            </a:r>
          </a:p>
          <a:p>
            <a:pPr marL="1143000" lvl="3" indent="-685800">
              <a:lnSpc>
                <a:spcPts val="6912"/>
              </a:lnSpc>
              <a:buFont typeface="Arial" panose="020B0604020202020204" pitchFamily="34" charset="0"/>
              <a:buChar char="•"/>
            </a:pPr>
            <a:r>
              <a:rPr lang="en-US" sz="4400" i="1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41%: “It feels like a chore”</a:t>
            </a:r>
          </a:p>
          <a:p>
            <a:pPr marL="823096" lvl="2" indent="-274365" algn="l">
              <a:lnSpc>
                <a:spcPts val="6912"/>
              </a:lnSpc>
            </a:pPr>
            <a:endParaRPr lang="en-US" sz="3600" dirty="0">
              <a:solidFill>
                <a:srgbClr val="9E85E3"/>
              </a:solidFill>
              <a:latin typeface="Calibri" pitchFamily="34" charset="0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901" name="LeftBar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9E85E3"/>
          </a:solidFill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2" name="GhostCircle1"/>
          <p:cNvSpPr/>
          <p:nvPr/>
        </p:nvSpPr>
        <p:spPr>
          <a:xfrm>
            <a:off x="11155680" y="-4206240"/>
            <a:ext cx="10241280" cy="10241280"/>
          </a:xfrm>
          <a:prstGeom prst="ellipse">
            <a:avLst/>
          </a:prstGeom>
          <a:noFill/>
          <a:ln w="22860">
            <a:solidFill>
              <a:srgbClr val="9E85E3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3" name="GhostCircle2"/>
          <p:cNvSpPr/>
          <p:nvPr/>
        </p:nvSpPr>
        <p:spPr>
          <a:xfrm>
            <a:off x="12435840" y="-2926080"/>
            <a:ext cx="7680960" cy="7680960"/>
          </a:xfrm>
          <a:prstGeom prst="ellipse">
            <a:avLst/>
          </a:prstGeom>
          <a:noFill/>
          <a:ln w="22860">
            <a:solidFill>
              <a:srgbClr val="9E85E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4" name="GhostCircle3"/>
          <p:cNvSpPr/>
          <p:nvPr/>
        </p:nvSpPr>
        <p:spPr>
          <a:xfrm>
            <a:off x="13624560" y="-1737360"/>
            <a:ext cx="5303520" cy="5303520"/>
          </a:xfrm>
          <a:prstGeom prst="ellipse">
            <a:avLst/>
          </a:prstGeom>
          <a:noFill/>
          <a:ln w="22860">
            <a:solidFill>
              <a:srgbClr val="9E85E3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5" name="GhostCircle4"/>
          <p:cNvSpPr/>
          <p:nvPr/>
        </p:nvSpPr>
        <p:spPr>
          <a:xfrm>
            <a:off x="14721840" y="-640080"/>
            <a:ext cx="3108960" cy="3108960"/>
          </a:xfrm>
          <a:prstGeom prst="ellipse">
            <a:avLst/>
          </a:prstGeom>
          <a:noFill/>
          <a:ln w="22860">
            <a:solidFill>
              <a:srgbClr val="9E85E3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6" name="FooterBar"/>
          <p:cNvSpPr/>
          <p:nvPr/>
        </p:nvSpPr>
        <p:spPr>
          <a:xfrm>
            <a:off x="0" y="9838944"/>
            <a:ext cx="18288000" cy="448056"/>
          </a:xfrm>
          <a:prstGeom prst="rect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7" name="ConfidentialText"/>
          <p:cNvSpPr/>
          <p:nvPr/>
        </p:nvSpPr>
        <p:spPr>
          <a:xfrm>
            <a:off x="12801600" y="9838944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kern="0" spc="267" dirty="0">
                <a:ln>
                  <a:noFill/>
                </a:ln>
                <a:solidFill>
                  <a:srgbClr val="B0A0D8"/>
                </a:solidFill>
                <a:effectLst/>
                <a:latin typeface="Calibri" pitchFamily="34" charset="0"/>
              </a:rPr>
              <a:t>CONFIDENTIAL</a:t>
            </a:r>
          </a:p>
        </p:txBody>
      </p:sp>
      <p:pic>
        <p:nvPicPr>
          <p:cNvPr id="908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824" y="8871114"/>
            <a:ext cx="835209" cy="820092"/>
          </a:xfrm>
          <a:prstGeom prst="rect">
            <a:avLst/>
          </a:prstGeom>
        </p:spPr>
      </p:pic>
      <p:sp>
        <p:nvSpPr>
          <p:cNvPr id="6" name="Shape 8">
            <a:extLst>
              <a:ext uri="{FF2B5EF4-FFF2-40B4-BE49-F238E27FC236}">
                <a16:creationId xmlns:a16="http://schemas.microsoft.com/office/drawing/2014/main" id="{06946A9E-3079-98BD-8DC4-5293107DD5A2}"/>
              </a:ext>
            </a:extLst>
          </p:cNvPr>
          <p:cNvSpPr/>
          <p:nvPr/>
        </p:nvSpPr>
        <p:spPr>
          <a:xfrm>
            <a:off x="1219200" y="4610100"/>
            <a:ext cx="4267200" cy="0"/>
          </a:xfrm>
          <a:prstGeom prst="line">
            <a:avLst/>
          </a:prstGeom>
          <a:noFill/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Stack of stones in calm ocean Stack of dark stones podium in calm ocean with evening sun with horizon - tranquil scenery calm stock pictures, royalty-free photos &amp; images">
            <a:extLst>
              <a:ext uri="{FF2B5EF4-FFF2-40B4-BE49-F238E27FC236}">
                <a16:creationId xmlns:a16="http://schemas.microsoft.com/office/drawing/2014/main" id="{E6DE8C63-DCFE-FB68-71DB-3175F5B9F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71108"/>
            <a:ext cx="23191887" cy="890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5622959" y="7621959"/>
            <a:ext cx="2665041" cy="266504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8"/>
                </a:lnSpc>
              </a:pPr>
              <a:endParaRPr/>
            </a:p>
          </p:txBody>
        </p:sp>
      </p:grpSp>
      <p:pic>
        <p:nvPicPr>
          <p:cNvPr id="908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216" y="5914076"/>
            <a:ext cx="556806" cy="546728"/>
          </a:xfrm>
          <a:prstGeom prst="rect">
            <a:avLst/>
          </a:prstGeom>
        </p:spPr>
      </p:pic>
      <p:sp>
        <p:nvSpPr>
          <p:cNvPr id="906" name="FooterBar"/>
          <p:cNvSpPr/>
          <p:nvPr/>
        </p:nvSpPr>
        <p:spPr>
          <a:xfrm>
            <a:off x="0" y="9838944"/>
            <a:ext cx="18288000" cy="448056"/>
          </a:xfrm>
          <a:prstGeom prst="rect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7" name="ConfidentialText"/>
          <p:cNvSpPr/>
          <p:nvPr/>
        </p:nvSpPr>
        <p:spPr>
          <a:xfrm>
            <a:off x="12801600" y="9838944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kern="0" spc="267" dirty="0">
                <a:ln>
                  <a:noFill/>
                </a:ln>
                <a:solidFill>
                  <a:srgbClr val="B0A0D8"/>
                </a:solidFill>
                <a:effectLst/>
                <a:latin typeface="Calibri" pitchFamily="34" charset="0"/>
              </a:rPr>
              <a:t>CONFIDENTIAL</a:t>
            </a:r>
          </a:p>
        </p:txBody>
      </p:sp>
      <p:pic>
        <p:nvPicPr>
          <p:cNvPr id="7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2824" y="8871114"/>
            <a:ext cx="835209" cy="8200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6403" y="929021"/>
            <a:ext cx="12169080" cy="3300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1828755">
              <a:lnSpc>
                <a:spcPct val="110000"/>
              </a:lnSpc>
              <a:defRPr/>
            </a:pPr>
            <a:r>
              <a:rPr lang="en-US" sz="10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Sound Healing  </a:t>
            </a:r>
          </a:p>
          <a:p>
            <a:pPr defTabSz="1828755">
              <a:lnSpc>
                <a:spcPct val="110000"/>
              </a:lnSpc>
              <a:defRPr/>
            </a:pPr>
            <a:r>
              <a:rPr lang="en-US" sz="100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is Neuroscience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10732" y="5765131"/>
            <a:ext cx="12458157" cy="8352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6912"/>
              </a:lnSpc>
              <a:buFont typeface="Wingdings" panose="05000000000000000000" pitchFamily="2" charset="2"/>
              <a:buChar char="Ø"/>
            </a:pP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Sound Improves </a:t>
            </a: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 Light" pitchFamily="34" charset="0"/>
              </a:rPr>
              <a:t>Calmness</a:t>
            </a: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 By 65%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0732" y="7336843"/>
            <a:ext cx="13328995" cy="8352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6912"/>
              </a:lnSpc>
              <a:buFont typeface="Wingdings" panose="05000000000000000000" pitchFamily="2" charset="2"/>
              <a:buChar char="Ø"/>
            </a:pP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 Light" pitchFamily="34" charset="0"/>
              </a:rPr>
              <a:t>Calmness</a:t>
            </a: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 strengthens consistency</a:t>
            </a:r>
          </a:p>
        </p:txBody>
      </p:sp>
      <p:sp>
        <p:nvSpPr>
          <p:cNvPr id="901" name="LeftBar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9E85E3"/>
          </a:solidFill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2" name="GhostCircle1"/>
          <p:cNvSpPr/>
          <p:nvPr/>
        </p:nvSpPr>
        <p:spPr>
          <a:xfrm>
            <a:off x="11155680" y="-4206240"/>
            <a:ext cx="10241280" cy="10241280"/>
          </a:xfrm>
          <a:prstGeom prst="ellipse">
            <a:avLst/>
          </a:prstGeom>
          <a:noFill/>
          <a:ln w="22860">
            <a:solidFill>
              <a:srgbClr val="9E85E3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3" name="GhostCircle2"/>
          <p:cNvSpPr/>
          <p:nvPr/>
        </p:nvSpPr>
        <p:spPr>
          <a:xfrm>
            <a:off x="12435840" y="-2926080"/>
            <a:ext cx="7680960" cy="7680960"/>
          </a:xfrm>
          <a:prstGeom prst="ellipse">
            <a:avLst/>
          </a:prstGeom>
          <a:noFill/>
          <a:ln w="22860">
            <a:solidFill>
              <a:srgbClr val="9E85E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4" name="GhostCircle3"/>
          <p:cNvSpPr/>
          <p:nvPr/>
        </p:nvSpPr>
        <p:spPr>
          <a:xfrm>
            <a:off x="13624560" y="-1737360"/>
            <a:ext cx="5303520" cy="5303520"/>
          </a:xfrm>
          <a:prstGeom prst="ellipse">
            <a:avLst/>
          </a:prstGeom>
          <a:noFill/>
          <a:ln w="22860">
            <a:solidFill>
              <a:srgbClr val="9E85E3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5" name="GhostCircle4"/>
          <p:cNvSpPr/>
          <p:nvPr/>
        </p:nvSpPr>
        <p:spPr>
          <a:xfrm>
            <a:off x="14721840" y="-640080"/>
            <a:ext cx="3108960" cy="3108960"/>
          </a:xfrm>
          <a:prstGeom prst="ellipse">
            <a:avLst/>
          </a:prstGeom>
          <a:noFill/>
          <a:ln w="22860">
            <a:solidFill>
              <a:srgbClr val="9E85E3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6" name="FooterBar"/>
          <p:cNvSpPr/>
          <p:nvPr/>
        </p:nvSpPr>
        <p:spPr>
          <a:xfrm>
            <a:off x="0" y="9838944"/>
            <a:ext cx="18288000" cy="448056"/>
          </a:xfrm>
          <a:prstGeom prst="rect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7" name="ConfidentialText"/>
          <p:cNvSpPr/>
          <p:nvPr/>
        </p:nvSpPr>
        <p:spPr>
          <a:xfrm>
            <a:off x="12801600" y="9838944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kern="0" spc="267" dirty="0">
                <a:ln>
                  <a:noFill/>
                </a:ln>
                <a:solidFill>
                  <a:srgbClr val="B0A0D8"/>
                </a:solidFill>
                <a:effectLst/>
                <a:latin typeface="Calibri" pitchFamily="34" charset="0"/>
              </a:rPr>
              <a:t>CONFIDENTIAL</a:t>
            </a:r>
          </a:p>
        </p:txBody>
      </p:sp>
      <p:pic>
        <p:nvPicPr>
          <p:cNvPr id="908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824" y="8871114"/>
            <a:ext cx="835209" cy="820092"/>
          </a:xfrm>
          <a:prstGeom prst="rect">
            <a:avLst/>
          </a:prstGeom>
        </p:spPr>
      </p:pic>
      <p:sp>
        <p:nvSpPr>
          <p:cNvPr id="6" name="Shape 8">
            <a:extLst>
              <a:ext uri="{FF2B5EF4-FFF2-40B4-BE49-F238E27FC236}">
                <a16:creationId xmlns:a16="http://schemas.microsoft.com/office/drawing/2014/main" id="{94ECA8B2-2577-4369-FC63-B2B34E5C2B4B}"/>
              </a:ext>
            </a:extLst>
          </p:cNvPr>
          <p:cNvSpPr/>
          <p:nvPr/>
        </p:nvSpPr>
        <p:spPr>
          <a:xfrm>
            <a:off x="1166403" y="4838700"/>
            <a:ext cx="4267200" cy="0"/>
          </a:xfrm>
          <a:prstGeom prst="line">
            <a:avLst/>
          </a:prstGeom>
          <a:noFill/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3F7E268-EC75-23D6-2A3A-8D8F098EC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-24303"/>
            <a:ext cx="15932165" cy="9863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6403" y="929021"/>
            <a:ext cx="16092897" cy="3300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1828755">
              <a:lnSpc>
                <a:spcPct val="110000"/>
              </a:lnSpc>
              <a:defRPr/>
            </a:pPr>
            <a:r>
              <a:rPr lang="en-US" sz="10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Game Controller </a:t>
            </a:r>
          </a:p>
          <a:p>
            <a:pPr defTabSz="1828755">
              <a:lnSpc>
                <a:spcPct val="110000"/>
              </a:lnSpc>
              <a:defRPr/>
            </a:pPr>
            <a:r>
              <a:rPr lang="en-US" sz="100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Drives Calmness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6402" y="5462224"/>
            <a:ext cx="16511998" cy="8352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5800" indent="-685800" algn="l">
              <a:lnSpc>
                <a:spcPts val="6912"/>
              </a:lnSpc>
              <a:buFont typeface="Wingdings" panose="05000000000000000000" pitchFamily="2" charset="2"/>
              <a:buChar char="Ø"/>
            </a:pP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Meditation</a:t>
            </a:r>
            <a:r>
              <a:rPr lang="en-US" sz="360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 </a:t>
            </a: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in Motion Reduces Anxiety Symptoms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6402" y="6827095"/>
            <a:ext cx="16511998" cy="8352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5800" indent="-685800" algn="l">
              <a:lnSpc>
                <a:spcPts val="6912"/>
              </a:lnSpc>
              <a:buFont typeface="Wingdings" panose="05000000000000000000" pitchFamily="2" charset="2"/>
              <a:buChar char="Ø"/>
            </a:pP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Sensory Input Reduces Stress, Increases Concentration</a:t>
            </a:r>
          </a:p>
        </p:txBody>
      </p:sp>
      <p:sp>
        <p:nvSpPr>
          <p:cNvPr id="901" name="LeftBar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9E85E3"/>
          </a:solidFill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2" name="GhostCircle1"/>
          <p:cNvSpPr/>
          <p:nvPr/>
        </p:nvSpPr>
        <p:spPr>
          <a:xfrm>
            <a:off x="11155680" y="-4206240"/>
            <a:ext cx="10241280" cy="10241280"/>
          </a:xfrm>
          <a:prstGeom prst="ellipse">
            <a:avLst/>
          </a:prstGeom>
          <a:noFill/>
          <a:ln w="22860">
            <a:solidFill>
              <a:srgbClr val="9E85E3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3" name="GhostCircle2"/>
          <p:cNvSpPr/>
          <p:nvPr/>
        </p:nvSpPr>
        <p:spPr>
          <a:xfrm>
            <a:off x="12435840" y="-2926080"/>
            <a:ext cx="7680960" cy="7680960"/>
          </a:xfrm>
          <a:prstGeom prst="ellipse">
            <a:avLst/>
          </a:prstGeom>
          <a:noFill/>
          <a:ln w="22860">
            <a:solidFill>
              <a:srgbClr val="9E85E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4" name="GhostCircle3"/>
          <p:cNvSpPr/>
          <p:nvPr/>
        </p:nvSpPr>
        <p:spPr>
          <a:xfrm>
            <a:off x="13624560" y="-1737360"/>
            <a:ext cx="5303520" cy="5303520"/>
          </a:xfrm>
          <a:prstGeom prst="ellipse">
            <a:avLst/>
          </a:prstGeom>
          <a:noFill/>
          <a:ln w="22860">
            <a:solidFill>
              <a:srgbClr val="9E85E3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5" name="GhostCircle4"/>
          <p:cNvSpPr/>
          <p:nvPr/>
        </p:nvSpPr>
        <p:spPr>
          <a:xfrm>
            <a:off x="14721840" y="-640080"/>
            <a:ext cx="3108960" cy="3108960"/>
          </a:xfrm>
          <a:prstGeom prst="ellipse">
            <a:avLst/>
          </a:prstGeom>
          <a:noFill/>
          <a:ln w="22860">
            <a:solidFill>
              <a:srgbClr val="9E85E3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6" name="FooterBar"/>
          <p:cNvSpPr/>
          <p:nvPr/>
        </p:nvSpPr>
        <p:spPr>
          <a:xfrm>
            <a:off x="0" y="9838944"/>
            <a:ext cx="18288000" cy="448056"/>
          </a:xfrm>
          <a:prstGeom prst="rect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7" name="ConfidentialText"/>
          <p:cNvSpPr/>
          <p:nvPr/>
        </p:nvSpPr>
        <p:spPr>
          <a:xfrm>
            <a:off x="12801600" y="9838944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kern="0" spc="267" dirty="0">
                <a:ln>
                  <a:noFill/>
                </a:ln>
                <a:solidFill>
                  <a:srgbClr val="B0A0D8"/>
                </a:solidFill>
                <a:effectLst/>
                <a:latin typeface="Calibri" pitchFamily="34" charset="0"/>
              </a:rPr>
              <a:t>CONFIDENTIAL</a:t>
            </a:r>
          </a:p>
        </p:txBody>
      </p:sp>
      <p:pic>
        <p:nvPicPr>
          <p:cNvPr id="908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824" y="8871114"/>
            <a:ext cx="835209" cy="820092"/>
          </a:xfrm>
          <a:prstGeom prst="rect">
            <a:avLst/>
          </a:prstGeom>
        </p:spPr>
      </p:pic>
      <p:sp>
        <p:nvSpPr>
          <p:cNvPr id="6" name="Shape 8">
            <a:extLst>
              <a:ext uri="{FF2B5EF4-FFF2-40B4-BE49-F238E27FC236}">
                <a16:creationId xmlns:a16="http://schemas.microsoft.com/office/drawing/2014/main" id="{147B8368-AF3D-C6D9-02D8-9E560FB73B3E}"/>
              </a:ext>
            </a:extLst>
          </p:cNvPr>
          <p:cNvSpPr/>
          <p:nvPr/>
        </p:nvSpPr>
        <p:spPr>
          <a:xfrm>
            <a:off x="1295400" y="4754880"/>
            <a:ext cx="4267200" cy="0"/>
          </a:xfrm>
          <a:prstGeom prst="line">
            <a:avLst/>
          </a:prstGeom>
          <a:noFill/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7B61DF7-2F06-A7B3-2A2C-4B79F0AA1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14400" y="184799"/>
            <a:ext cx="18135599" cy="1018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91764" y="8423948"/>
            <a:ext cx="1896236" cy="1863052"/>
          </a:xfrm>
          <a:custGeom>
            <a:avLst/>
            <a:gdLst/>
            <a:ahLst/>
            <a:cxnLst/>
            <a:rect l="l" t="t" r="r" b="b"/>
            <a:pathLst>
              <a:path w="1896236" h="1863052">
                <a:moveTo>
                  <a:pt x="0" y="0"/>
                </a:moveTo>
                <a:lnTo>
                  <a:pt x="1896236" y="0"/>
                </a:lnTo>
                <a:lnTo>
                  <a:pt x="1896236" y="1863052"/>
                </a:lnTo>
                <a:lnTo>
                  <a:pt x="0" y="186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2404576" y="6863662"/>
            <a:ext cx="5359819" cy="545710"/>
            <a:chOff x="0" y="0"/>
            <a:chExt cx="1411640" cy="1437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1640" cy="143726"/>
            </a:xfrm>
            <a:custGeom>
              <a:avLst/>
              <a:gdLst/>
              <a:ahLst/>
              <a:cxnLst/>
              <a:rect l="l" t="t" r="r" b="b"/>
              <a:pathLst>
                <a:path w="1411640" h="143726">
                  <a:moveTo>
                    <a:pt x="0" y="0"/>
                  </a:moveTo>
                  <a:lnTo>
                    <a:pt x="1411640" y="0"/>
                  </a:lnTo>
                  <a:lnTo>
                    <a:pt x="1411640" y="143726"/>
                  </a:lnTo>
                  <a:lnTo>
                    <a:pt x="0" y="143726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14300"/>
              <a:ext cx="1411640" cy="2580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8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68734" y="1502176"/>
            <a:ext cx="5612455" cy="3725536"/>
            <a:chOff x="0" y="0"/>
            <a:chExt cx="1478177" cy="9812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78177" cy="981211"/>
            </a:xfrm>
            <a:custGeom>
              <a:avLst/>
              <a:gdLst/>
              <a:ahLst/>
              <a:cxnLst/>
              <a:rect l="l" t="t" r="r" b="b"/>
              <a:pathLst>
                <a:path w="1478177" h="981211">
                  <a:moveTo>
                    <a:pt x="0" y="0"/>
                  </a:moveTo>
                  <a:lnTo>
                    <a:pt x="1478177" y="0"/>
                  </a:lnTo>
                  <a:lnTo>
                    <a:pt x="1478177" y="981211"/>
                  </a:lnTo>
                  <a:lnTo>
                    <a:pt x="0" y="981211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14300"/>
              <a:ext cx="1478177" cy="10955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8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7278" y="9502299"/>
            <a:ext cx="7156338" cy="545710"/>
            <a:chOff x="0" y="0"/>
            <a:chExt cx="1884797" cy="1437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84797" cy="143726"/>
            </a:xfrm>
            <a:custGeom>
              <a:avLst/>
              <a:gdLst/>
              <a:ahLst/>
              <a:cxnLst/>
              <a:rect l="l" t="t" r="r" b="b"/>
              <a:pathLst>
                <a:path w="1884797" h="143726">
                  <a:moveTo>
                    <a:pt x="0" y="0"/>
                  </a:moveTo>
                  <a:lnTo>
                    <a:pt x="1884797" y="0"/>
                  </a:lnTo>
                  <a:lnTo>
                    <a:pt x="1884797" y="143726"/>
                  </a:lnTo>
                  <a:lnTo>
                    <a:pt x="0" y="143726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14300"/>
              <a:ext cx="1884797" cy="2580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8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877" y="8618075"/>
            <a:ext cx="4222960" cy="138686"/>
            <a:chOff x="0" y="0"/>
            <a:chExt cx="1112220" cy="365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12220" cy="36526"/>
            </a:xfrm>
            <a:custGeom>
              <a:avLst/>
              <a:gdLst/>
              <a:ahLst/>
              <a:cxnLst/>
              <a:rect l="l" t="t" r="r" b="b"/>
              <a:pathLst>
                <a:path w="1112220" h="36526">
                  <a:moveTo>
                    <a:pt x="0" y="0"/>
                  </a:moveTo>
                  <a:lnTo>
                    <a:pt x="1112220" y="0"/>
                  </a:lnTo>
                  <a:lnTo>
                    <a:pt x="1112220" y="36526"/>
                  </a:lnTo>
                  <a:lnTo>
                    <a:pt x="0" y="36526"/>
                  </a:lnTo>
                  <a:close/>
                </a:path>
              </a:pathLst>
            </a:custGeom>
            <a:solidFill>
              <a:srgbClr val="0F15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14300"/>
              <a:ext cx="1112220" cy="150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8"/>
                </a:lnSpc>
              </a:pPr>
              <a:endParaRPr/>
            </a:p>
          </p:txBody>
        </p:sp>
      </p:grpSp>
      <p:pic>
        <p:nvPicPr>
          <p:cNvPr id="908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216" y="5914076"/>
            <a:ext cx="556806" cy="546728"/>
          </a:xfrm>
          <a:prstGeom prst="rect">
            <a:avLst/>
          </a:prstGeom>
        </p:spPr>
      </p:pic>
      <p:sp>
        <p:nvSpPr>
          <p:cNvPr id="906" name="FooterBar"/>
          <p:cNvSpPr/>
          <p:nvPr/>
        </p:nvSpPr>
        <p:spPr>
          <a:xfrm>
            <a:off x="0" y="9838944"/>
            <a:ext cx="18288000" cy="448056"/>
          </a:xfrm>
          <a:prstGeom prst="rect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7" name="ConfidentialText"/>
          <p:cNvSpPr/>
          <p:nvPr/>
        </p:nvSpPr>
        <p:spPr>
          <a:xfrm>
            <a:off x="12801600" y="9838944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kern="0" spc="267" dirty="0">
                <a:ln>
                  <a:noFill/>
                </a:ln>
                <a:solidFill>
                  <a:srgbClr val="B0A0D8"/>
                </a:solidFill>
                <a:effectLst/>
                <a:latin typeface="Calibri" pitchFamily="34" charset="0"/>
              </a:rPr>
              <a:t>CONFIDENTIAL</a:t>
            </a:r>
          </a:p>
        </p:txBody>
      </p:sp>
      <p:pic>
        <p:nvPicPr>
          <p:cNvPr id="17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824" y="8871114"/>
            <a:ext cx="835209" cy="8200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6403" y="929021"/>
            <a:ext cx="16704618" cy="2685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50"/>
              </a:lnSpc>
            </a:pPr>
            <a:r>
              <a:rPr lang="en-US" sz="7733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97% of </a:t>
            </a:r>
            <a:r>
              <a:rPr lang="en-US" sz="7733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EchoScape</a:t>
            </a:r>
            <a:r>
              <a:rPr lang="en-US" sz="7733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 Users</a:t>
            </a:r>
          </a:p>
          <a:p>
            <a:pPr algn="l">
              <a:lnSpc>
                <a:spcPts val="10750"/>
              </a:lnSpc>
            </a:pPr>
            <a:r>
              <a:rPr lang="en-US" sz="7733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Felt More Calm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37399" y="4385640"/>
            <a:ext cx="8307876" cy="785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sz="3600" i="1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“</a:t>
            </a:r>
            <a:r>
              <a:rPr lang="en-US" sz="3600" b="1" i="1" dirty="0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Calming</a:t>
            </a:r>
            <a:r>
              <a:rPr lang="en-US" sz="3600" i="1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 yet stimulating!”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37399" y="5358735"/>
            <a:ext cx="8307876" cy="785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sz="3600" i="1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“Fun and relaxing”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7399" y="6384753"/>
            <a:ext cx="8307876" cy="785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sz="3600" i="1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“Unreal. It was very </a:t>
            </a:r>
            <a:r>
              <a:rPr lang="en-US" sz="3600" b="1" i="1" dirty="0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calming</a:t>
            </a:r>
            <a:r>
              <a:rPr lang="en-US" sz="3600" i="1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 and intriguing”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81564" y="7892420"/>
            <a:ext cx="10946513" cy="111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1"/>
              </a:lnSpc>
            </a:pPr>
            <a:r>
              <a:rPr lang="en-US" sz="50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70% </a:t>
            </a:r>
            <a:r>
              <a:rPr lang="en-US" sz="5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felt more relaxed afterwards </a:t>
            </a:r>
          </a:p>
        </p:txBody>
      </p:sp>
      <p:sp>
        <p:nvSpPr>
          <p:cNvPr id="901" name="LeftBar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9E85E3"/>
          </a:solidFill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2" name="GhostCircle1"/>
          <p:cNvSpPr/>
          <p:nvPr/>
        </p:nvSpPr>
        <p:spPr>
          <a:xfrm>
            <a:off x="11155680" y="-4206240"/>
            <a:ext cx="10241280" cy="10241280"/>
          </a:xfrm>
          <a:prstGeom prst="ellipse">
            <a:avLst/>
          </a:prstGeom>
          <a:noFill/>
          <a:ln w="22860">
            <a:solidFill>
              <a:srgbClr val="9E85E3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3" name="GhostCircle2"/>
          <p:cNvSpPr/>
          <p:nvPr/>
        </p:nvSpPr>
        <p:spPr>
          <a:xfrm>
            <a:off x="12435840" y="-2926080"/>
            <a:ext cx="7680960" cy="7680960"/>
          </a:xfrm>
          <a:prstGeom prst="ellipse">
            <a:avLst/>
          </a:prstGeom>
          <a:noFill/>
          <a:ln w="22860">
            <a:solidFill>
              <a:srgbClr val="9E85E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4" name="GhostCircle3"/>
          <p:cNvSpPr/>
          <p:nvPr/>
        </p:nvSpPr>
        <p:spPr>
          <a:xfrm>
            <a:off x="13624560" y="-1737360"/>
            <a:ext cx="5303520" cy="5303520"/>
          </a:xfrm>
          <a:prstGeom prst="ellipse">
            <a:avLst/>
          </a:prstGeom>
          <a:noFill/>
          <a:ln w="22860">
            <a:solidFill>
              <a:srgbClr val="9E85E3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5" name="GhostCircle4"/>
          <p:cNvSpPr/>
          <p:nvPr/>
        </p:nvSpPr>
        <p:spPr>
          <a:xfrm>
            <a:off x="14721840" y="-640080"/>
            <a:ext cx="3108960" cy="3108960"/>
          </a:xfrm>
          <a:prstGeom prst="ellipse">
            <a:avLst/>
          </a:prstGeom>
          <a:noFill/>
          <a:ln w="22860">
            <a:solidFill>
              <a:srgbClr val="9E85E3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6" name="FooterBar"/>
          <p:cNvSpPr/>
          <p:nvPr/>
        </p:nvSpPr>
        <p:spPr>
          <a:xfrm>
            <a:off x="0" y="9838944"/>
            <a:ext cx="18288000" cy="448056"/>
          </a:xfrm>
          <a:prstGeom prst="rect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7" name="ConfidentialText"/>
          <p:cNvSpPr/>
          <p:nvPr/>
        </p:nvSpPr>
        <p:spPr>
          <a:xfrm>
            <a:off x="12801600" y="9838944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kern="0" spc="267" dirty="0">
                <a:ln>
                  <a:noFill/>
                </a:ln>
                <a:solidFill>
                  <a:srgbClr val="B0A0D8"/>
                </a:solidFill>
                <a:effectLst/>
                <a:latin typeface="Calibri" pitchFamily="34" charset="0"/>
              </a:rPr>
              <a:t>CONFIDENTIAL</a:t>
            </a:r>
          </a:p>
        </p:txBody>
      </p:sp>
      <p:pic>
        <p:nvPicPr>
          <p:cNvPr id="908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824" y="8871114"/>
            <a:ext cx="835209" cy="820092"/>
          </a:xfrm>
          <a:prstGeom prst="rect">
            <a:avLst/>
          </a:prstGeom>
        </p:spPr>
      </p:pic>
      <p:sp>
        <p:nvSpPr>
          <p:cNvPr id="8" name="Shape 8">
            <a:extLst>
              <a:ext uri="{FF2B5EF4-FFF2-40B4-BE49-F238E27FC236}">
                <a16:creationId xmlns:a16="http://schemas.microsoft.com/office/drawing/2014/main" id="{3421D200-7C51-EA29-BAF1-358BF12188CB}"/>
              </a:ext>
            </a:extLst>
          </p:cNvPr>
          <p:cNvSpPr/>
          <p:nvPr/>
        </p:nvSpPr>
        <p:spPr>
          <a:xfrm>
            <a:off x="1219200" y="4076700"/>
            <a:ext cx="4267200" cy="0"/>
          </a:xfrm>
          <a:prstGeom prst="line">
            <a:avLst/>
          </a:prstGeom>
          <a:noFill/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98" name="Picture 2" descr="Person doing yoga pose">
            <a:extLst>
              <a:ext uri="{FF2B5EF4-FFF2-40B4-BE49-F238E27FC236}">
                <a16:creationId xmlns:a16="http://schemas.microsoft.com/office/drawing/2014/main" id="{E3455EA2-39A0-24A3-2B83-E570FE341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750769" y="-1"/>
            <a:ext cx="16297263" cy="9944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331586" y="114300"/>
            <a:ext cx="1559026" cy="1531743"/>
          </a:xfrm>
          <a:custGeom>
            <a:avLst/>
            <a:gdLst/>
            <a:ahLst/>
            <a:cxnLst/>
            <a:rect l="l" t="t" r="r" b="b"/>
            <a:pathLst>
              <a:path w="1559026" h="1531743">
                <a:moveTo>
                  <a:pt x="0" y="0"/>
                </a:moveTo>
                <a:lnTo>
                  <a:pt x="1559027" y="0"/>
                </a:lnTo>
                <a:lnTo>
                  <a:pt x="1559027" y="1531743"/>
                </a:lnTo>
                <a:lnTo>
                  <a:pt x="0" y="1531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903302"/>
              </p:ext>
            </p:extLst>
          </p:nvPr>
        </p:nvGraphicFramePr>
        <p:xfrm>
          <a:off x="7162800" y="1635938"/>
          <a:ext cx="8107168" cy="8102745"/>
        </p:xfrm>
        <a:graphic>
          <a:graphicData uri="http://schemas.openxmlformats.org/drawingml/2006/table">
            <a:tbl>
              <a:tblPr/>
              <a:tblGrid>
                <a:gridCol w="2026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6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6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20549"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>
                          <a:solidFill>
                            <a:srgbClr val="00BF63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✓</a:t>
                      </a:r>
                      <a:endParaRPr lang="en-US" sz="110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>
                          <a:solidFill>
                            <a:srgbClr val="00BF63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✓</a:t>
                      </a:r>
                      <a:endParaRPr lang="en-US" sz="110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>
                          <a:solidFill>
                            <a:srgbClr val="F13307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X</a:t>
                      </a:r>
                      <a:endParaRPr lang="en-US" sz="110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>
                          <a:solidFill>
                            <a:srgbClr val="00BF63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✓</a:t>
                      </a:r>
                      <a:endParaRPr lang="en-US" sz="110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0549"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>
                          <a:solidFill>
                            <a:srgbClr val="00BF63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✓</a:t>
                      </a:r>
                      <a:endParaRPr lang="en-US" sz="110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 dirty="0">
                          <a:solidFill>
                            <a:srgbClr val="F13307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X</a:t>
                      </a:r>
                      <a:endParaRPr lang="en-US" sz="1100" dirty="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>
                          <a:solidFill>
                            <a:srgbClr val="00BF63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✓</a:t>
                      </a:r>
                      <a:endParaRPr lang="en-US" sz="110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>
                          <a:solidFill>
                            <a:srgbClr val="00BF63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✓</a:t>
                      </a:r>
                      <a:endParaRPr lang="en-US" sz="110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549"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>
                          <a:solidFill>
                            <a:srgbClr val="00BF63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✓</a:t>
                      </a:r>
                      <a:endParaRPr lang="en-US" sz="110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>
                          <a:solidFill>
                            <a:srgbClr val="F13307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X</a:t>
                      </a:r>
                      <a:endParaRPr lang="en-US" sz="110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>
                          <a:solidFill>
                            <a:srgbClr val="F13307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X</a:t>
                      </a:r>
                      <a:endParaRPr lang="en-US" sz="110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>
                          <a:solidFill>
                            <a:srgbClr val="00BF63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✓</a:t>
                      </a:r>
                      <a:endParaRPr lang="en-US" sz="110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549"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>
                          <a:solidFill>
                            <a:srgbClr val="00BF63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✓</a:t>
                      </a:r>
                      <a:endParaRPr lang="en-US" sz="110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>
                          <a:solidFill>
                            <a:srgbClr val="00BF63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✓</a:t>
                      </a:r>
                      <a:endParaRPr lang="en-US" sz="110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>
                          <a:solidFill>
                            <a:srgbClr val="00BF63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✓</a:t>
                      </a:r>
                      <a:endParaRPr lang="en-US" sz="110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>
                          <a:solidFill>
                            <a:srgbClr val="F13307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X</a:t>
                      </a:r>
                      <a:endParaRPr lang="en-US" sz="110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549"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>
                          <a:solidFill>
                            <a:srgbClr val="00BF63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✓</a:t>
                      </a:r>
                      <a:endParaRPr lang="en-US" sz="110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>
                          <a:solidFill>
                            <a:srgbClr val="F13307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X</a:t>
                      </a:r>
                      <a:endParaRPr lang="en-US" sz="110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>
                          <a:solidFill>
                            <a:srgbClr val="F13307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X</a:t>
                      </a:r>
                      <a:endParaRPr lang="en-US" sz="110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707"/>
                        </a:lnSpc>
                        <a:defRPr/>
                      </a:pPr>
                      <a:r>
                        <a:rPr lang="en-US" sz="4790" b="1" dirty="0">
                          <a:solidFill>
                            <a:srgbClr val="F13307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X</a:t>
                      </a:r>
                      <a:endParaRPr lang="en-US" sz="1100" dirty="0"/>
                    </a:p>
                  </a:txBody>
                  <a:tcPr marL="202814" marR="202814" marT="202814" marB="202814" anchor="ctr">
                    <a:lnL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0563" cap="flat" cmpd="sng" algn="ctr">
                      <a:solidFill>
                        <a:srgbClr val="B0A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Freeform 5"/>
          <p:cNvSpPr/>
          <p:nvPr/>
        </p:nvSpPr>
        <p:spPr>
          <a:xfrm>
            <a:off x="9435147" y="114300"/>
            <a:ext cx="1491616" cy="1523537"/>
          </a:xfrm>
          <a:custGeom>
            <a:avLst/>
            <a:gdLst/>
            <a:ahLst/>
            <a:cxnLst/>
            <a:rect l="l" t="t" r="r" b="b"/>
            <a:pathLst>
              <a:path w="1491616" h="1523537">
                <a:moveTo>
                  <a:pt x="0" y="0"/>
                </a:moveTo>
                <a:lnTo>
                  <a:pt x="1491616" y="0"/>
                </a:lnTo>
                <a:lnTo>
                  <a:pt x="1491616" y="1523537"/>
                </a:lnTo>
                <a:lnTo>
                  <a:pt x="0" y="15235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597695" y="197613"/>
            <a:ext cx="1356912" cy="1356912"/>
          </a:xfrm>
          <a:custGeom>
            <a:avLst/>
            <a:gdLst/>
            <a:ahLst/>
            <a:cxnLst/>
            <a:rect l="l" t="t" r="r" b="b"/>
            <a:pathLst>
              <a:path w="1356912" h="1356912">
                <a:moveTo>
                  <a:pt x="0" y="0"/>
                </a:moveTo>
                <a:lnTo>
                  <a:pt x="1356912" y="0"/>
                </a:lnTo>
                <a:lnTo>
                  <a:pt x="1356912" y="1356911"/>
                </a:lnTo>
                <a:lnTo>
                  <a:pt x="0" y="1356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666868" y="197613"/>
            <a:ext cx="1356912" cy="1356912"/>
          </a:xfrm>
          <a:custGeom>
            <a:avLst/>
            <a:gdLst/>
            <a:ahLst/>
            <a:cxnLst/>
            <a:rect l="l" t="t" r="r" b="b"/>
            <a:pathLst>
              <a:path w="1356912" h="1356912">
                <a:moveTo>
                  <a:pt x="0" y="0"/>
                </a:moveTo>
                <a:lnTo>
                  <a:pt x="1356912" y="0"/>
                </a:lnTo>
                <a:lnTo>
                  <a:pt x="1356912" y="1356911"/>
                </a:lnTo>
                <a:lnTo>
                  <a:pt x="0" y="13569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383842" y="5387904"/>
            <a:ext cx="4137656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9E85E3"/>
                </a:solidFill>
                <a:latin typeface="+mj-lt"/>
                <a:sym typeface="Montserrat Bold"/>
              </a:rPr>
              <a:t>Multi-sensory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82437" y="3851043"/>
            <a:ext cx="383906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9E85E3"/>
                </a:solidFill>
                <a:latin typeface="+mj-lt"/>
                <a:sym typeface="Montserrat Bold"/>
              </a:rPr>
              <a:t>Controller Input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4342" y="6924765"/>
            <a:ext cx="5467156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9E85E3"/>
                </a:solidFill>
                <a:latin typeface="+mj-lt"/>
                <a:sym typeface="Montserrat Bold"/>
              </a:rPr>
              <a:t>Personalized Journey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0730" y="8461626"/>
            <a:ext cx="5256627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9E85E3"/>
                </a:solidFill>
                <a:latin typeface="+mj-lt"/>
                <a:sym typeface="Montserrat Bold"/>
              </a:rPr>
              <a:t>Create Your Calm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0435" y="2314182"/>
            <a:ext cx="6039163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9E85E3"/>
                </a:solidFill>
                <a:latin typeface="+mj-lt"/>
                <a:ea typeface="Montserrat Bold"/>
                <a:cs typeface="Montserrat Bold"/>
                <a:sym typeface="Montserrat Bold"/>
              </a:rPr>
              <a:t>Immersive </a:t>
            </a:r>
            <a:r>
              <a:rPr lang="en-US" sz="3600" b="1" dirty="0">
                <a:solidFill>
                  <a:srgbClr val="9E85E3"/>
                </a:solidFill>
                <a:latin typeface="+mj-lt"/>
                <a:sym typeface="Montserrat Bold"/>
              </a:rPr>
              <a:t>Sound</a:t>
            </a:r>
            <a:r>
              <a:rPr lang="en-US" sz="3600" b="1" dirty="0">
                <a:solidFill>
                  <a:srgbClr val="9E85E3"/>
                </a:solidFill>
                <a:latin typeface="+mj-lt"/>
                <a:ea typeface="Montserrat Bold"/>
                <a:cs typeface="Montserrat Bold"/>
                <a:sym typeface="Montserrat Bold"/>
              </a:rPr>
              <a:t> Library</a:t>
            </a:r>
          </a:p>
        </p:txBody>
      </p:sp>
      <p:sp>
        <p:nvSpPr>
          <p:cNvPr id="901" name="LeftBar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9E85E3"/>
          </a:solidFill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2" name="GhostCircle1"/>
          <p:cNvSpPr/>
          <p:nvPr/>
        </p:nvSpPr>
        <p:spPr>
          <a:xfrm>
            <a:off x="11155680" y="-4206240"/>
            <a:ext cx="10241280" cy="10241280"/>
          </a:xfrm>
          <a:prstGeom prst="ellipse">
            <a:avLst/>
          </a:prstGeom>
          <a:noFill/>
          <a:ln w="22860">
            <a:solidFill>
              <a:srgbClr val="9E85E3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3" name="GhostCircle2"/>
          <p:cNvSpPr/>
          <p:nvPr/>
        </p:nvSpPr>
        <p:spPr>
          <a:xfrm>
            <a:off x="12435840" y="-2926080"/>
            <a:ext cx="7680960" cy="7680960"/>
          </a:xfrm>
          <a:prstGeom prst="ellipse">
            <a:avLst/>
          </a:prstGeom>
          <a:noFill/>
          <a:ln w="22860">
            <a:solidFill>
              <a:srgbClr val="9E85E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4" name="GhostCircle3"/>
          <p:cNvSpPr/>
          <p:nvPr/>
        </p:nvSpPr>
        <p:spPr>
          <a:xfrm>
            <a:off x="13624560" y="-1737360"/>
            <a:ext cx="5303520" cy="5303520"/>
          </a:xfrm>
          <a:prstGeom prst="ellipse">
            <a:avLst/>
          </a:prstGeom>
          <a:noFill/>
          <a:ln w="22860">
            <a:solidFill>
              <a:srgbClr val="9E85E3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5" name="GhostCircle4"/>
          <p:cNvSpPr/>
          <p:nvPr/>
        </p:nvSpPr>
        <p:spPr>
          <a:xfrm>
            <a:off x="14721840" y="-640080"/>
            <a:ext cx="3108960" cy="3108960"/>
          </a:xfrm>
          <a:prstGeom prst="ellipse">
            <a:avLst/>
          </a:prstGeom>
          <a:noFill/>
          <a:ln w="22860">
            <a:solidFill>
              <a:srgbClr val="9E85E3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6" name="FooterBar"/>
          <p:cNvSpPr/>
          <p:nvPr/>
        </p:nvSpPr>
        <p:spPr>
          <a:xfrm>
            <a:off x="0" y="9838944"/>
            <a:ext cx="18288000" cy="448056"/>
          </a:xfrm>
          <a:prstGeom prst="rect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7" name="ConfidentialText"/>
          <p:cNvSpPr/>
          <p:nvPr/>
        </p:nvSpPr>
        <p:spPr>
          <a:xfrm>
            <a:off x="12801600" y="9838944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kern="0" spc="267" dirty="0">
                <a:ln>
                  <a:noFill/>
                </a:ln>
                <a:solidFill>
                  <a:srgbClr val="B0A0D8"/>
                </a:solidFill>
                <a:effectLst/>
                <a:latin typeface="Calibri" pitchFamily="34" charset="0"/>
              </a:rPr>
              <a:t>CONFIDENTIAL</a:t>
            </a:r>
          </a:p>
        </p:txBody>
      </p:sp>
      <p:pic>
        <p:nvPicPr>
          <p:cNvPr id="908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824" y="8871114"/>
            <a:ext cx="835209" cy="8200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866351"/>
            <a:ext cx="6489123" cy="648912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E85E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66403" y="929021"/>
            <a:ext cx="16772332" cy="1300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50"/>
              </a:lnSpc>
            </a:pPr>
            <a:r>
              <a:rPr lang="en-US" sz="7733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1 Billion Gamers Worldwide Have Anxiety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77615" y="4364182"/>
            <a:ext cx="4991292" cy="499129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D4ED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730211" y="6269374"/>
            <a:ext cx="3086100" cy="308610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8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4273261" y="3729972"/>
            <a:ext cx="532101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4273261" y="5442279"/>
            <a:ext cx="532101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4273261" y="7793374"/>
            <a:ext cx="532101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0120730" y="3281027"/>
            <a:ext cx="5807869" cy="907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0"/>
              </a:lnSpc>
            </a:pPr>
            <a:r>
              <a:rPr lang="en-US" sz="32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$28 Billion+:</a:t>
            </a:r>
          </a:p>
          <a:p>
            <a:pPr algn="just">
              <a:lnSpc>
                <a:spcPts val="3520"/>
              </a:lnSpc>
              <a:spcBef>
                <a:spcPct val="0"/>
              </a:spcBef>
            </a:pPr>
            <a:r>
              <a:rPr lang="en-US" sz="32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Digital Mental Health Market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20730" y="4993334"/>
            <a:ext cx="5561261" cy="907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0"/>
              </a:lnSpc>
            </a:pPr>
            <a:r>
              <a:rPr lang="en-US" sz="32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$200 Million:</a:t>
            </a:r>
          </a:p>
          <a:p>
            <a:pPr algn="just">
              <a:lnSpc>
                <a:spcPts val="3520"/>
              </a:lnSpc>
              <a:spcBef>
                <a:spcPct val="0"/>
              </a:spcBef>
            </a:pPr>
            <a:r>
              <a:rPr lang="en-US" sz="32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Meditation App and Gaming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20730" y="7344429"/>
            <a:ext cx="5335637" cy="907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0"/>
              </a:lnSpc>
            </a:pPr>
            <a:r>
              <a:rPr lang="en-US" sz="32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$20 Million:</a:t>
            </a:r>
          </a:p>
          <a:p>
            <a:pPr algn="just">
              <a:lnSpc>
                <a:spcPts val="3520"/>
              </a:lnSpc>
              <a:spcBef>
                <a:spcPct val="0"/>
              </a:spcBef>
            </a:pPr>
            <a:r>
              <a:rPr lang="en-US" sz="32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Age 18-35 Anxious Gamers</a:t>
            </a:r>
          </a:p>
        </p:txBody>
      </p:sp>
      <p:sp>
        <p:nvSpPr>
          <p:cNvPr id="901" name="LeftBar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9E85E3"/>
          </a:solidFill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2" name="GhostCircle1"/>
          <p:cNvSpPr/>
          <p:nvPr/>
        </p:nvSpPr>
        <p:spPr>
          <a:xfrm>
            <a:off x="11155680" y="-4206240"/>
            <a:ext cx="10241280" cy="10241280"/>
          </a:xfrm>
          <a:prstGeom prst="ellipse">
            <a:avLst/>
          </a:prstGeom>
          <a:noFill/>
          <a:ln w="22860">
            <a:solidFill>
              <a:srgbClr val="9E85E3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3" name="GhostCircle2"/>
          <p:cNvSpPr/>
          <p:nvPr/>
        </p:nvSpPr>
        <p:spPr>
          <a:xfrm>
            <a:off x="12435840" y="-2926080"/>
            <a:ext cx="7680960" cy="7680960"/>
          </a:xfrm>
          <a:prstGeom prst="ellipse">
            <a:avLst/>
          </a:prstGeom>
          <a:noFill/>
          <a:ln w="22860">
            <a:solidFill>
              <a:srgbClr val="9E85E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4" name="GhostCircle3"/>
          <p:cNvSpPr/>
          <p:nvPr/>
        </p:nvSpPr>
        <p:spPr>
          <a:xfrm>
            <a:off x="13624560" y="-1737360"/>
            <a:ext cx="5303520" cy="5303520"/>
          </a:xfrm>
          <a:prstGeom prst="ellipse">
            <a:avLst/>
          </a:prstGeom>
          <a:noFill/>
          <a:ln w="22860">
            <a:solidFill>
              <a:srgbClr val="9E85E3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5" name="GhostCircle4"/>
          <p:cNvSpPr/>
          <p:nvPr/>
        </p:nvSpPr>
        <p:spPr>
          <a:xfrm>
            <a:off x="14721840" y="-640080"/>
            <a:ext cx="3108960" cy="3108960"/>
          </a:xfrm>
          <a:prstGeom prst="ellipse">
            <a:avLst/>
          </a:prstGeom>
          <a:noFill/>
          <a:ln w="22860">
            <a:solidFill>
              <a:srgbClr val="9E85E3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6" name="FooterBar"/>
          <p:cNvSpPr/>
          <p:nvPr/>
        </p:nvSpPr>
        <p:spPr>
          <a:xfrm>
            <a:off x="0" y="9838944"/>
            <a:ext cx="18288000" cy="448056"/>
          </a:xfrm>
          <a:prstGeom prst="rect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7" name="ConfidentialText"/>
          <p:cNvSpPr/>
          <p:nvPr/>
        </p:nvSpPr>
        <p:spPr>
          <a:xfrm>
            <a:off x="12801600" y="9838944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kern="0" spc="267" dirty="0">
                <a:ln>
                  <a:noFill/>
                </a:ln>
                <a:solidFill>
                  <a:srgbClr val="B0A0D8"/>
                </a:solidFill>
                <a:effectLst/>
                <a:latin typeface="Calibri" pitchFamily="34" charset="0"/>
              </a:rPr>
              <a:t>CONFIDENTIAL</a:t>
            </a:r>
          </a:p>
        </p:txBody>
      </p:sp>
      <p:pic>
        <p:nvPicPr>
          <p:cNvPr id="908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2824" y="8871114"/>
            <a:ext cx="835209" cy="8200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6403" y="929021"/>
            <a:ext cx="16457815" cy="3300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1828755">
              <a:lnSpc>
                <a:spcPct val="110000"/>
              </a:lnSpc>
              <a:defRPr/>
            </a:pPr>
            <a:r>
              <a:rPr lang="en-US" sz="10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Built-in User-base of </a:t>
            </a:r>
          </a:p>
          <a:p>
            <a:pPr defTabSz="1828755">
              <a:lnSpc>
                <a:spcPct val="110000"/>
              </a:lnSpc>
              <a:defRPr/>
            </a:pPr>
            <a:r>
              <a:rPr lang="en-US" sz="100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147 Million Gamers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4704" y="5371546"/>
            <a:ext cx="14792496" cy="8352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6912"/>
              </a:lnSpc>
              <a:buFont typeface="Wingdings" panose="05000000000000000000" pitchFamily="2" charset="2"/>
              <a:buChar char="Ø"/>
            </a:pP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Release on PC/Mac via Steam (free platform)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4704" y="6478659"/>
            <a:ext cx="12887496" cy="8352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6912"/>
              </a:lnSpc>
              <a:buFont typeface="Wingdings" panose="05000000000000000000" pitchFamily="2" charset="2"/>
              <a:buChar char="Ø"/>
            </a:pP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Market via Indie Gaming Press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4704" y="7581290"/>
            <a:ext cx="8307876" cy="83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lnSpc>
                <a:spcPts val="6912"/>
              </a:lnSpc>
              <a:buFont typeface="Wingdings" panose="05000000000000000000" pitchFamily="2" charset="2"/>
              <a:buChar char="Ø"/>
            </a:pP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Scale to iOS/Android</a:t>
            </a:r>
          </a:p>
        </p:txBody>
      </p:sp>
      <p:sp>
        <p:nvSpPr>
          <p:cNvPr id="901" name="LeftBar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9E85E3"/>
          </a:solidFill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2" name="GhostCircle1"/>
          <p:cNvSpPr/>
          <p:nvPr/>
        </p:nvSpPr>
        <p:spPr>
          <a:xfrm>
            <a:off x="11155680" y="-4206240"/>
            <a:ext cx="10241280" cy="10241280"/>
          </a:xfrm>
          <a:prstGeom prst="ellipse">
            <a:avLst/>
          </a:prstGeom>
          <a:noFill/>
          <a:ln w="22860">
            <a:solidFill>
              <a:srgbClr val="9E85E3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3" name="GhostCircle2"/>
          <p:cNvSpPr/>
          <p:nvPr/>
        </p:nvSpPr>
        <p:spPr>
          <a:xfrm>
            <a:off x="12435840" y="-2926080"/>
            <a:ext cx="7680960" cy="7680960"/>
          </a:xfrm>
          <a:prstGeom prst="ellipse">
            <a:avLst/>
          </a:prstGeom>
          <a:noFill/>
          <a:ln w="22860">
            <a:solidFill>
              <a:srgbClr val="9E85E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4" name="GhostCircle3"/>
          <p:cNvSpPr/>
          <p:nvPr/>
        </p:nvSpPr>
        <p:spPr>
          <a:xfrm>
            <a:off x="13624560" y="-1737360"/>
            <a:ext cx="5303520" cy="5303520"/>
          </a:xfrm>
          <a:prstGeom prst="ellipse">
            <a:avLst/>
          </a:prstGeom>
          <a:noFill/>
          <a:ln w="22860">
            <a:solidFill>
              <a:srgbClr val="9E85E3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5" name="GhostCircle4"/>
          <p:cNvSpPr/>
          <p:nvPr/>
        </p:nvSpPr>
        <p:spPr>
          <a:xfrm>
            <a:off x="14721840" y="-640080"/>
            <a:ext cx="3108960" cy="3108960"/>
          </a:xfrm>
          <a:prstGeom prst="ellipse">
            <a:avLst/>
          </a:prstGeom>
          <a:noFill/>
          <a:ln w="22860">
            <a:solidFill>
              <a:srgbClr val="9E85E3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6" name="FooterBar"/>
          <p:cNvSpPr/>
          <p:nvPr/>
        </p:nvSpPr>
        <p:spPr>
          <a:xfrm>
            <a:off x="0" y="9838944"/>
            <a:ext cx="18288000" cy="448056"/>
          </a:xfrm>
          <a:prstGeom prst="rect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7" name="ConfidentialText"/>
          <p:cNvSpPr/>
          <p:nvPr/>
        </p:nvSpPr>
        <p:spPr>
          <a:xfrm>
            <a:off x="12801600" y="9838944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kern="0" spc="267" dirty="0">
                <a:ln>
                  <a:noFill/>
                </a:ln>
                <a:solidFill>
                  <a:srgbClr val="B0A0D8"/>
                </a:solidFill>
                <a:effectLst/>
                <a:latin typeface="Calibri" pitchFamily="34" charset="0"/>
              </a:rPr>
              <a:t>CONFIDENTIAL</a:t>
            </a:r>
          </a:p>
        </p:txBody>
      </p:sp>
      <p:pic>
        <p:nvPicPr>
          <p:cNvPr id="908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824" y="8871114"/>
            <a:ext cx="835209" cy="820092"/>
          </a:xfrm>
          <a:prstGeom prst="rect">
            <a:avLst/>
          </a:prstGeom>
        </p:spPr>
      </p:pic>
      <p:sp>
        <p:nvSpPr>
          <p:cNvPr id="9" name="Shape 8">
            <a:extLst>
              <a:ext uri="{FF2B5EF4-FFF2-40B4-BE49-F238E27FC236}">
                <a16:creationId xmlns:a16="http://schemas.microsoft.com/office/drawing/2014/main" id="{B98097DC-B571-1B51-5353-F9420278D787}"/>
              </a:ext>
            </a:extLst>
          </p:cNvPr>
          <p:cNvSpPr/>
          <p:nvPr/>
        </p:nvSpPr>
        <p:spPr>
          <a:xfrm>
            <a:off x="1066800" y="4777740"/>
            <a:ext cx="4267200" cy="0"/>
          </a:xfrm>
          <a:prstGeom prst="line">
            <a:avLst/>
          </a:prstGeom>
          <a:noFill/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BE4D7D-9CAC-216A-6EF1-A00F6D2450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239967" y="-12612"/>
            <a:ext cx="18048033" cy="98515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152543" y="5734833"/>
            <a:ext cx="16230600" cy="0"/>
          </a:xfrm>
          <a:prstGeom prst="line">
            <a:avLst/>
          </a:prstGeom>
          <a:ln w="571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3005751" y="4442713"/>
            <a:ext cx="0" cy="127307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7239675" y="4461763"/>
            <a:ext cx="0" cy="127307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1456054" y="4461763"/>
            <a:ext cx="0" cy="127307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6037644" y="4423663"/>
            <a:ext cx="0" cy="127307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815989" y="2225547"/>
            <a:ext cx="2443311" cy="175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4"/>
              </a:lnSpc>
            </a:pPr>
            <a:r>
              <a:rPr lang="en-US" sz="32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Year 2+3</a:t>
            </a:r>
          </a:p>
          <a:p>
            <a:pPr algn="ctr">
              <a:lnSpc>
                <a:spcPts val="3520"/>
              </a:lnSpc>
            </a:pPr>
            <a:r>
              <a:rPr lang="en-US" sz="32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Scale to</a:t>
            </a:r>
          </a:p>
          <a:p>
            <a:pPr algn="ctr">
              <a:lnSpc>
                <a:spcPts val="3520"/>
              </a:lnSpc>
            </a:pPr>
            <a:r>
              <a:rPr lang="en-US" sz="32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iOS/Android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2543" y="2225547"/>
            <a:ext cx="3706416" cy="2198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4"/>
              </a:lnSpc>
            </a:pPr>
            <a:r>
              <a:rPr lang="en-US" sz="32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Month 1-3</a:t>
            </a:r>
          </a:p>
          <a:p>
            <a:pPr algn="ctr">
              <a:lnSpc>
                <a:spcPts val="3520"/>
              </a:lnSpc>
            </a:pPr>
            <a:r>
              <a:rPr lang="en-US" sz="32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Hire Team </a:t>
            </a:r>
          </a:p>
          <a:p>
            <a:pPr algn="ctr">
              <a:lnSpc>
                <a:spcPts val="3520"/>
              </a:lnSpc>
            </a:pPr>
            <a:r>
              <a:rPr lang="en-US" sz="32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of Engineers</a:t>
            </a:r>
          </a:p>
          <a:p>
            <a:pPr algn="ctr">
              <a:lnSpc>
                <a:spcPts val="3520"/>
              </a:lnSpc>
            </a:pPr>
            <a:r>
              <a:rPr lang="en-US" sz="32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for full production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70489" y="2244597"/>
            <a:ext cx="2691259" cy="2198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4"/>
              </a:lnSpc>
            </a:pPr>
            <a:r>
              <a:rPr lang="en-US" sz="32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Month 4-6</a:t>
            </a:r>
          </a:p>
          <a:p>
            <a:pPr algn="ctr">
              <a:lnSpc>
                <a:spcPts val="3520"/>
              </a:lnSpc>
            </a:pPr>
            <a:r>
              <a:rPr lang="en-US" sz="32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Steam</a:t>
            </a:r>
          </a:p>
          <a:p>
            <a:pPr algn="ctr">
              <a:lnSpc>
                <a:spcPts val="3520"/>
              </a:lnSpc>
            </a:pPr>
            <a:r>
              <a:rPr lang="en-US" sz="32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Early Access</a:t>
            </a:r>
          </a:p>
          <a:p>
            <a:pPr algn="ctr">
              <a:lnSpc>
                <a:spcPts val="3520"/>
              </a:lnSpc>
            </a:pPr>
            <a:r>
              <a:rPr lang="en-US" sz="32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User Feeback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41600" y="2263647"/>
            <a:ext cx="3181796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30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Year 1</a:t>
            </a:r>
          </a:p>
          <a:p>
            <a:pPr algn="ctr">
              <a:lnSpc>
                <a:spcPts val="3300"/>
              </a:lnSpc>
            </a:pPr>
            <a:r>
              <a:rPr lang="en-US" sz="30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Analytics </a:t>
            </a:r>
          </a:p>
          <a:p>
            <a:pPr algn="ctr">
              <a:lnSpc>
                <a:spcPts val="3300"/>
              </a:lnSpc>
            </a:pPr>
            <a:r>
              <a:rPr lang="en-US" sz="3000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Content Updates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54943" y="7506483"/>
            <a:ext cx="5457081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  <a:spcBef>
                <a:spcPct val="0"/>
              </a:spcBef>
            </a:pPr>
            <a:r>
              <a:rPr lang="en-US" sz="3999" b="1">
                <a:solidFill>
                  <a:srgbClr val="9E85E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 Light" pitchFamily="34" charset="0"/>
              </a:rPr>
              <a:t> 3-Year Revenue: $5M</a:t>
            </a:r>
          </a:p>
        </p:txBody>
      </p:sp>
      <p:sp>
        <p:nvSpPr>
          <p:cNvPr id="901" name="LeftBar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9E85E3"/>
          </a:solidFill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2" name="GhostCircle1"/>
          <p:cNvSpPr/>
          <p:nvPr/>
        </p:nvSpPr>
        <p:spPr>
          <a:xfrm>
            <a:off x="11155680" y="-4206240"/>
            <a:ext cx="10241280" cy="10241280"/>
          </a:xfrm>
          <a:prstGeom prst="ellipse">
            <a:avLst/>
          </a:prstGeom>
          <a:noFill/>
          <a:ln w="22860">
            <a:solidFill>
              <a:srgbClr val="9E85E3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3" name="GhostCircle2"/>
          <p:cNvSpPr/>
          <p:nvPr/>
        </p:nvSpPr>
        <p:spPr>
          <a:xfrm>
            <a:off x="12435840" y="-2926080"/>
            <a:ext cx="7680960" cy="7680960"/>
          </a:xfrm>
          <a:prstGeom prst="ellipse">
            <a:avLst/>
          </a:prstGeom>
          <a:noFill/>
          <a:ln w="22860">
            <a:solidFill>
              <a:srgbClr val="9E85E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4" name="GhostCircle3"/>
          <p:cNvSpPr/>
          <p:nvPr/>
        </p:nvSpPr>
        <p:spPr>
          <a:xfrm>
            <a:off x="13624560" y="-1737360"/>
            <a:ext cx="5303520" cy="5303520"/>
          </a:xfrm>
          <a:prstGeom prst="ellipse">
            <a:avLst/>
          </a:prstGeom>
          <a:noFill/>
          <a:ln w="22860">
            <a:solidFill>
              <a:srgbClr val="9E85E3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5" name="GhostCircle4"/>
          <p:cNvSpPr/>
          <p:nvPr/>
        </p:nvSpPr>
        <p:spPr>
          <a:xfrm>
            <a:off x="14721840" y="-640080"/>
            <a:ext cx="3108960" cy="3108960"/>
          </a:xfrm>
          <a:prstGeom prst="ellipse">
            <a:avLst/>
          </a:prstGeom>
          <a:noFill/>
          <a:ln w="22860">
            <a:solidFill>
              <a:srgbClr val="9E85E3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6" name="FooterBar"/>
          <p:cNvSpPr/>
          <p:nvPr/>
        </p:nvSpPr>
        <p:spPr>
          <a:xfrm>
            <a:off x="0" y="9838944"/>
            <a:ext cx="18288000" cy="448056"/>
          </a:xfrm>
          <a:prstGeom prst="rect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7" name="ConfidentialText"/>
          <p:cNvSpPr/>
          <p:nvPr/>
        </p:nvSpPr>
        <p:spPr>
          <a:xfrm>
            <a:off x="12801600" y="9838944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kern="0" spc="267" dirty="0">
                <a:ln>
                  <a:noFill/>
                </a:ln>
                <a:solidFill>
                  <a:srgbClr val="B0A0D8"/>
                </a:solidFill>
                <a:effectLst/>
                <a:latin typeface="Calibri" pitchFamily="34" charset="0"/>
              </a:rPr>
              <a:t>CONFIDENTIAL</a:t>
            </a:r>
          </a:p>
        </p:txBody>
      </p:sp>
      <p:pic>
        <p:nvPicPr>
          <p:cNvPr id="908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824" y="8871114"/>
            <a:ext cx="835209" cy="8200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6403" y="929021"/>
            <a:ext cx="16092897" cy="1608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1828755">
              <a:lnSpc>
                <a:spcPct val="110000"/>
              </a:lnSpc>
              <a:defRPr/>
            </a:pPr>
            <a:r>
              <a:rPr lang="en-US" sz="10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Funding for Full Development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214722" y="3445820"/>
            <a:ext cx="8307876" cy="83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lnSpc>
                <a:spcPts val="6912"/>
              </a:lnSpc>
              <a:buFont typeface="Wingdings" panose="05000000000000000000" pitchFamily="2" charset="2"/>
              <a:buChar char="Ø"/>
            </a:pP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2 Engineers + 1 Designer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14722" y="5363384"/>
            <a:ext cx="8307876" cy="1690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lnSpc>
                <a:spcPts val="6912"/>
              </a:lnSpc>
              <a:buFont typeface="Wingdings" panose="05000000000000000000" pitchFamily="2" charset="2"/>
              <a:buChar char="Ø"/>
            </a:pP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Sound Libraries</a:t>
            </a:r>
          </a:p>
          <a:p>
            <a:pPr algn="l">
              <a:lnSpc>
                <a:spcPts val="6912"/>
              </a:lnSpc>
            </a:pPr>
            <a:endParaRPr lang="en-US" sz="3600" dirty="0">
              <a:solidFill>
                <a:srgbClr val="9E85E3"/>
              </a:solidFill>
              <a:latin typeface="Calibri" pitchFamily="34" charset="0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214722" y="7430938"/>
            <a:ext cx="8307876" cy="2555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lnSpc>
                <a:spcPts val="6912"/>
              </a:lnSpc>
              <a:buFont typeface="Wingdings" panose="05000000000000000000" pitchFamily="2" charset="2"/>
              <a:buChar char="Ø"/>
            </a:pPr>
            <a:r>
              <a:rPr lang="en-US" sz="5070" dirty="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Partnerships and Press Outreach</a:t>
            </a:r>
          </a:p>
          <a:p>
            <a:pPr algn="l">
              <a:lnSpc>
                <a:spcPts val="6912"/>
              </a:lnSpc>
            </a:pPr>
            <a:endParaRPr lang="en-US" sz="3600" dirty="0">
              <a:solidFill>
                <a:srgbClr val="9E85E3"/>
              </a:solidFill>
              <a:latin typeface="Calibri" pitchFamily="34" charset="0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5229225"/>
            <a:ext cx="5688806" cy="1281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  <a:spcBef>
                <a:spcPct val="0"/>
              </a:spcBef>
            </a:pPr>
            <a:r>
              <a:rPr lang="en-US" sz="7733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$250,000</a:t>
            </a:r>
          </a:p>
        </p:txBody>
      </p:sp>
      <p:sp>
        <p:nvSpPr>
          <p:cNvPr id="901" name="LeftBar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9E85E3"/>
          </a:solidFill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2" name="GhostCircle1"/>
          <p:cNvSpPr/>
          <p:nvPr/>
        </p:nvSpPr>
        <p:spPr>
          <a:xfrm>
            <a:off x="11155680" y="-4206240"/>
            <a:ext cx="10241280" cy="10241280"/>
          </a:xfrm>
          <a:prstGeom prst="ellipse">
            <a:avLst/>
          </a:prstGeom>
          <a:noFill/>
          <a:ln w="22860">
            <a:solidFill>
              <a:srgbClr val="9E85E3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3" name="GhostCircle2"/>
          <p:cNvSpPr/>
          <p:nvPr/>
        </p:nvSpPr>
        <p:spPr>
          <a:xfrm>
            <a:off x="12435840" y="-2926080"/>
            <a:ext cx="7680960" cy="7680960"/>
          </a:xfrm>
          <a:prstGeom prst="ellipse">
            <a:avLst/>
          </a:prstGeom>
          <a:noFill/>
          <a:ln w="22860">
            <a:solidFill>
              <a:srgbClr val="9E85E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4" name="GhostCircle3"/>
          <p:cNvSpPr/>
          <p:nvPr/>
        </p:nvSpPr>
        <p:spPr>
          <a:xfrm>
            <a:off x="13624560" y="-1737360"/>
            <a:ext cx="5303520" cy="5303520"/>
          </a:xfrm>
          <a:prstGeom prst="ellipse">
            <a:avLst/>
          </a:prstGeom>
          <a:noFill/>
          <a:ln w="22860">
            <a:solidFill>
              <a:srgbClr val="9E85E3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5" name="GhostCircle4"/>
          <p:cNvSpPr/>
          <p:nvPr/>
        </p:nvSpPr>
        <p:spPr>
          <a:xfrm>
            <a:off x="14721840" y="-640080"/>
            <a:ext cx="3108960" cy="3108960"/>
          </a:xfrm>
          <a:prstGeom prst="ellipse">
            <a:avLst/>
          </a:prstGeom>
          <a:noFill/>
          <a:ln w="22860">
            <a:solidFill>
              <a:srgbClr val="9E85E3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6" name="FooterBar"/>
          <p:cNvSpPr/>
          <p:nvPr/>
        </p:nvSpPr>
        <p:spPr>
          <a:xfrm>
            <a:off x="0" y="9838944"/>
            <a:ext cx="18288000" cy="448056"/>
          </a:xfrm>
          <a:prstGeom prst="rect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7" name="ConfidentialText"/>
          <p:cNvSpPr/>
          <p:nvPr/>
        </p:nvSpPr>
        <p:spPr>
          <a:xfrm>
            <a:off x="12801600" y="9838944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kern="0" spc="267" dirty="0">
                <a:ln>
                  <a:noFill/>
                </a:ln>
                <a:solidFill>
                  <a:srgbClr val="B0A0D8"/>
                </a:solidFill>
                <a:effectLst/>
                <a:latin typeface="Calibri" pitchFamily="34" charset="0"/>
              </a:rPr>
              <a:t>CONFIDENTIAL</a:t>
            </a:r>
          </a:p>
        </p:txBody>
      </p:sp>
      <p:pic>
        <p:nvPicPr>
          <p:cNvPr id="908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824" y="8871114"/>
            <a:ext cx="835209" cy="8200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6403" y="929021"/>
            <a:ext cx="16092897" cy="1608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1828755">
              <a:lnSpc>
                <a:spcPct val="110000"/>
              </a:lnSpc>
              <a:defRPr/>
            </a:pPr>
            <a:r>
              <a:rPr lang="en-US" sz="10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Team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5874719"/>
            <a:ext cx="4454209" cy="1690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2"/>
              </a:lnSpc>
            </a:pPr>
            <a:r>
              <a:rPr lang="en-US" sz="360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Mike Ahearn Wilcox</a:t>
            </a:r>
          </a:p>
          <a:p>
            <a:pPr algn="ctr">
              <a:lnSpc>
                <a:spcPts val="6912"/>
              </a:lnSpc>
            </a:pPr>
            <a:r>
              <a:rPr lang="en-US" sz="360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Founder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749929" y="5874719"/>
            <a:ext cx="3509371" cy="1690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2"/>
              </a:lnSpc>
            </a:pPr>
            <a:r>
              <a:rPr lang="en-US" sz="360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Natalia Pollack</a:t>
            </a:r>
          </a:p>
          <a:p>
            <a:pPr algn="ctr">
              <a:lnSpc>
                <a:spcPts val="6912"/>
              </a:lnSpc>
            </a:pPr>
            <a:r>
              <a:rPr lang="en-US" sz="360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Contributor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55733" y="5874719"/>
            <a:ext cx="3121372" cy="1690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2"/>
              </a:lnSpc>
            </a:pPr>
            <a:r>
              <a:rPr lang="en-US" sz="360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Greg Donovan</a:t>
            </a:r>
          </a:p>
          <a:p>
            <a:pPr algn="ctr">
              <a:lnSpc>
                <a:spcPts val="6912"/>
              </a:lnSpc>
            </a:pPr>
            <a:r>
              <a:rPr lang="en-US" sz="3600">
                <a:solidFill>
                  <a:srgbClr val="9E85E3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Advisor</a:t>
            </a:r>
          </a:p>
        </p:txBody>
      </p:sp>
      <p:sp>
        <p:nvSpPr>
          <p:cNvPr id="901" name="LeftBar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9E85E3"/>
          </a:solidFill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2" name="GhostCircle1"/>
          <p:cNvSpPr/>
          <p:nvPr/>
        </p:nvSpPr>
        <p:spPr>
          <a:xfrm>
            <a:off x="11155680" y="-4206240"/>
            <a:ext cx="10241280" cy="10241280"/>
          </a:xfrm>
          <a:prstGeom prst="ellipse">
            <a:avLst/>
          </a:prstGeom>
          <a:noFill/>
          <a:ln w="22860">
            <a:solidFill>
              <a:srgbClr val="9E85E3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3" name="GhostCircle2"/>
          <p:cNvSpPr/>
          <p:nvPr/>
        </p:nvSpPr>
        <p:spPr>
          <a:xfrm>
            <a:off x="12435840" y="-2926080"/>
            <a:ext cx="7680960" cy="7680960"/>
          </a:xfrm>
          <a:prstGeom prst="ellipse">
            <a:avLst/>
          </a:prstGeom>
          <a:noFill/>
          <a:ln w="22860">
            <a:solidFill>
              <a:srgbClr val="9E85E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4" name="GhostCircle3"/>
          <p:cNvSpPr/>
          <p:nvPr/>
        </p:nvSpPr>
        <p:spPr>
          <a:xfrm>
            <a:off x="13624560" y="-1737360"/>
            <a:ext cx="5303520" cy="5303520"/>
          </a:xfrm>
          <a:prstGeom prst="ellipse">
            <a:avLst/>
          </a:prstGeom>
          <a:noFill/>
          <a:ln w="22860">
            <a:solidFill>
              <a:srgbClr val="9E85E3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5" name="GhostCircle4"/>
          <p:cNvSpPr/>
          <p:nvPr/>
        </p:nvSpPr>
        <p:spPr>
          <a:xfrm>
            <a:off x="14721840" y="-640080"/>
            <a:ext cx="3108960" cy="3108960"/>
          </a:xfrm>
          <a:prstGeom prst="ellipse">
            <a:avLst/>
          </a:prstGeom>
          <a:noFill/>
          <a:ln w="22860">
            <a:solidFill>
              <a:srgbClr val="9E85E3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6" name="FooterBar"/>
          <p:cNvSpPr/>
          <p:nvPr/>
        </p:nvSpPr>
        <p:spPr>
          <a:xfrm>
            <a:off x="0" y="9838944"/>
            <a:ext cx="18288000" cy="448056"/>
          </a:xfrm>
          <a:prstGeom prst="rect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7" name="ConfidentialText"/>
          <p:cNvSpPr/>
          <p:nvPr/>
        </p:nvSpPr>
        <p:spPr>
          <a:xfrm>
            <a:off x="12801600" y="9838944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kern="0" spc="267" dirty="0">
                <a:ln>
                  <a:noFill/>
                </a:ln>
                <a:solidFill>
                  <a:srgbClr val="B0A0D8"/>
                </a:solidFill>
                <a:effectLst/>
                <a:latin typeface="Calibri" pitchFamily="34" charset="0"/>
              </a:rPr>
              <a:t>CONFIDENTIAL</a:t>
            </a:r>
          </a:p>
        </p:txBody>
      </p:sp>
      <p:pic>
        <p:nvPicPr>
          <p:cNvPr id="908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824" y="8871114"/>
            <a:ext cx="835209" cy="8200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84702" y="1028700"/>
            <a:ext cx="9318595" cy="8229600"/>
          </a:xfrm>
          <a:custGeom>
            <a:avLst/>
            <a:gdLst/>
            <a:ahLst/>
            <a:cxnLst/>
            <a:rect l="l" t="t" r="r" b="b"/>
            <a:pathLst>
              <a:path w="9318595" h="8229600">
                <a:moveTo>
                  <a:pt x="0" y="0"/>
                </a:moveTo>
                <a:lnTo>
                  <a:pt x="9318596" y="0"/>
                </a:lnTo>
                <a:lnTo>
                  <a:pt x="93185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641" b="-3092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908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216" y="5914076"/>
            <a:ext cx="556806" cy="546728"/>
          </a:xfrm>
          <a:prstGeom prst="rect">
            <a:avLst/>
          </a:prstGeom>
        </p:spPr>
      </p:pic>
      <p:sp>
        <p:nvSpPr>
          <p:cNvPr id="906" name="FooterBar"/>
          <p:cNvSpPr/>
          <p:nvPr/>
        </p:nvSpPr>
        <p:spPr>
          <a:xfrm>
            <a:off x="0" y="9838944"/>
            <a:ext cx="18288000" cy="448056"/>
          </a:xfrm>
          <a:prstGeom prst="rect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7" name="ConfidentialText"/>
          <p:cNvSpPr/>
          <p:nvPr/>
        </p:nvSpPr>
        <p:spPr>
          <a:xfrm>
            <a:off x="12801600" y="9838944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kern="0" spc="267" dirty="0">
                <a:ln>
                  <a:noFill/>
                </a:ln>
                <a:solidFill>
                  <a:srgbClr val="B0A0D8"/>
                </a:solidFill>
                <a:effectLst/>
                <a:latin typeface="Calibri" pitchFamily="34" charset="0"/>
              </a:rPr>
              <a:t>CONFIDENTIAL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2824" y="8871114"/>
            <a:ext cx="835209" cy="8200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41E0EE-F640-7829-1B77-F2AE15B48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334AD43-34BC-5B1B-8DC0-A61DC614334E}"/>
              </a:ext>
            </a:extLst>
          </p:cNvPr>
          <p:cNvSpPr txBox="1"/>
          <p:nvPr/>
        </p:nvSpPr>
        <p:spPr>
          <a:xfrm>
            <a:off x="1166403" y="929021"/>
            <a:ext cx="16092897" cy="1300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50"/>
              </a:lnSpc>
            </a:pPr>
            <a:r>
              <a:rPr lang="en-US" sz="7733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  <a:sym typeface="Calibri Light" pitchFamily="34" charset="0"/>
              </a:rPr>
              <a:t>Appendix</a:t>
            </a:r>
          </a:p>
        </p:txBody>
      </p:sp>
      <p:sp>
        <p:nvSpPr>
          <p:cNvPr id="901" name="LeftBar">
            <a:extLst>
              <a:ext uri="{FF2B5EF4-FFF2-40B4-BE49-F238E27FC236}">
                <a16:creationId xmlns:a16="http://schemas.microsoft.com/office/drawing/2014/main" id="{DB2154C0-A318-60F5-C0E2-E21ECFC6CF67}"/>
              </a:ext>
            </a:extLst>
          </p:cNvPr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9E85E3"/>
          </a:solidFill>
          <a:ln w="19050">
            <a:solidFill>
              <a:srgbClr val="9E8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2" name="GhostCircle1">
            <a:extLst>
              <a:ext uri="{FF2B5EF4-FFF2-40B4-BE49-F238E27FC236}">
                <a16:creationId xmlns:a16="http://schemas.microsoft.com/office/drawing/2014/main" id="{37A85A5C-D78C-C254-83D4-B46D84CC33CF}"/>
              </a:ext>
            </a:extLst>
          </p:cNvPr>
          <p:cNvSpPr/>
          <p:nvPr/>
        </p:nvSpPr>
        <p:spPr>
          <a:xfrm>
            <a:off x="11155680" y="-4206240"/>
            <a:ext cx="10241280" cy="10241280"/>
          </a:xfrm>
          <a:prstGeom prst="ellipse">
            <a:avLst/>
          </a:prstGeom>
          <a:noFill/>
          <a:ln w="22860">
            <a:solidFill>
              <a:srgbClr val="9E85E3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3" name="GhostCircle2">
            <a:extLst>
              <a:ext uri="{FF2B5EF4-FFF2-40B4-BE49-F238E27FC236}">
                <a16:creationId xmlns:a16="http://schemas.microsoft.com/office/drawing/2014/main" id="{E9C7B12D-E54A-6E4E-B0CA-0358D7F901F6}"/>
              </a:ext>
            </a:extLst>
          </p:cNvPr>
          <p:cNvSpPr/>
          <p:nvPr/>
        </p:nvSpPr>
        <p:spPr>
          <a:xfrm>
            <a:off x="12435840" y="-2926080"/>
            <a:ext cx="7680960" cy="7680960"/>
          </a:xfrm>
          <a:prstGeom prst="ellipse">
            <a:avLst/>
          </a:prstGeom>
          <a:noFill/>
          <a:ln w="22860">
            <a:solidFill>
              <a:srgbClr val="9E85E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4" name="GhostCircle3">
            <a:extLst>
              <a:ext uri="{FF2B5EF4-FFF2-40B4-BE49-F238E27FC236}">
                <a16:creationId xmlns:a16="http://schemas.microsoft.com/office/drawing/2014/main" id="{935CCD03-8C38-A815-590D-9FF7AF7FE462}"/>
              </a:ext>
            </a:extLst>
          </p:cNvPr>
          <p:cNvSpPr/>
          <p:nvPr/>
        </p:nvSpPr>
        <p:spPr>
          <a:xfrm>
            <a:off x="13624560" y="-1737360"/>
            <a:ext cx="5303520" cy="5303520"/>
          </a:xfrm>
          <a:prstGeom prst="ellipse">
            <a:avLst/>
          </a:prstGeom>
          <a:noFill/>
          <a:ln w="22860">
            <a:solidFill>
              <a:srgbClr val="9E85E3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5" name="GhostCircle4">
            <a:extLst>
              <a:ext uri="{FF2B5EF4-FFF2-40B4-BE49-F238E27FC236}">
                <a16:creationId xmlns:a16="http://schemas.microsoft.com/office/drawing/2014/main" id="{06973505-3EC4-0656-587E-ADFF26545EB3}"/>
              </a:ext>
            </a:extLst>
          </p:cNvPr>
          <p:cNvSpPr/>
          <p:nvPr/>
        </p:nvSpPr>
        <p:spPr>
          <a:xfrm>
            <a:off x="14721840" y="-640080"/>
            <a:ext cx="3108960" cy="3108960"/>
          </a:xfrm>
          <a:prstGeom prst="ellipse">
            <a:avLst/>
          </a:prstGeom>
          <a:noFill/>
          <a:ln w="22860">
            <a:solidFill>
              <a:srgbClr val="9E85E3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6" name="FooterBar">
            <a:extLst>
              <a:ext uri="{FF2B5EF4-FFF2-40B4-BE49-F238E27FC236}">
                <a16:creationId xmlns:a16="http://schemas.microsoft.com/office/drawing/2014/main" id="{765D9917-026D-E2FA-DC96-370D77397A16}"/>
              </a:ext>
            </a:extLst>
          </p:cNvPr>
          <p:cNvSpPr/>
          <p:nvPr/>
        </p:nvSpPr>
        <p:spPr>
          <a:xfrm>
            <a:off x="0" y="9838944"/>
            <a:ext cx="18288000" cy="448056"/>
          </a:xfrm>
          <a:prstGeom prst="rect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7" name="ConfidentialText">
            <a:extLst>
              <a:ext uri="{FF2B5EF4-FFF2-40B4-BE49-F238E27FC236}">
                <a16:creationId xmlns:a16="http://schemas.microsoft.com/office/drawing/2014/main" id="{D5FCA326-4813-71A0-74FC-59A9F579DC9D}"/>
              </a:ext>
            </a:extLst>
          </p:cNvPr>
          <p:cNvSpPr/>
          <p:nvPr/>
        </p:nvSpPr>
        <p:spPr>
          <a:xfrm>
            <a:off x="12801600" y="9838944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kern="0" spc="267" dirty="0">
                <a:ln>
                  <a:noFill/>
                </a:ln>
                <a:solidFill>
                  <a:srgbClr val="B0A0D8"/>
                </a:solidFill>
                <a:effectLst/>
                <a:latin typeface="Calibri" pitchFamily="34" charset="0"/>
              </a:rPr>
              <a:t>CONFIDENTIAL</a:t>
            </a:r>
          </a:p>
        </p:txBody>
      </p:sp>
      <p:pic>
        <p:nvPicPr>
          <p:cNvPr id="908" name="Logo">
            <a:extLst>
              <a:ext uri="{FF2B5EF4-FFF2-40B4-BE49-F238E27FC236}">
                <a16:creationId xmlns:a16="http://schemas.microsoft.com/office/drawing/2014/main" id="{31C2EEEB-AF5D-D269-A8B0-C7AA0C974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824" y="8871114"/>
            <a:ext cx="835209" cy="82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32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D1B2A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D1B2A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D1B2A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D1B2A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D1B2A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D1B2A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418</Words>
  <Application>Microsoft Office PowerPoint</Application>
  <PresentationFormat>Custom</PresentationFormat>
  <Paragraphs>134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Wingdings</vt:lpstr>
      <vt:lpstr>Aptos</vt:lpstr>
      <vt:lpstr>Calibri Light</vt:lpstr>
      <vt:lpstr>Arial</vt:lpstr>
      <vt:lpstr>Montserrat Bold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EchoScape Pitch Deck 3-24</dc:title>
  <cp:lastModifiedBy>Greg Donovan</cp:lastModifiedBy>
  <cp:revision>17</cp:revision>
  <dcterms:created xsi:type="dcterms:W3CDTF">2006-08-16T00:00:00Z</dcterms:created>
  <dcterms:modified xsi:type="dcterms:W3CDTF">2026-03-28T16:10:07Z</dcterms:modified>
  <dc:identifier>DAHE4NypB40</dc:identifier>
</cp:coreProperties>
</file>